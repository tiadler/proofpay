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extStyles>
    <p:titleStyle>
      <a:lvl1pPr algn="ctr"/>
    </p:titleStyle>
    <p:bodyStyle>
      <a:lvl1pPr/>
    </p:bodyStyle>
    <p:otherStyle>
      <a:lvl1pPr/>
    </p:otherStyle>
  </p:text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ofPay on Rial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left stripe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685800" y="5303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50" b="1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PROOFPAY / RIALO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1371600"/>
            <a:ext cx="1033272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41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ProofPay on Rialo</a:t>
            </a:r>
            <a:endParaRPr lang="en-US" sz="410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94944" y="2514600"/>
            <a:ext cx="9692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65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Escrow theo bằng chứng cho thanh toán Web3 có điều kiện</a:t>
            </a:r>
            <a:endParaRPr lang="en-US" sz="1650" dirty="0">
              <a:solidFill>
                <a:srgbClr val="E2E8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atement line"/>
          <p:cNvSpPr/>
          <p:nvPr/>
        </p:nvSpPr>
        <p:spPr>
          <a:xfrm>
            <a:off x="713232" y="4224528"/>
            <a:ext cx="47548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" name="statement"/>
          <p:cNvSpPr txBox="1"/>
          <p:nvPr/>
        </p:nvSpPr>
        <p:spPr>
          <a:xfrm>
            <a:off x="694944" y="4443984"/>
            <a:ext cx="8961120" cy="6949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500" b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Khóa tiền trước, xác minh bằng chứng sau, rồi release hoặc refund theo rule có thể audit.</a:t>
            </a:r>
            <a:endParaRPr lang="en-US" sz="150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meta"/>
          <p:cNvSpPr txBox="1"/>
          <p:nvPr/>
        </p:nvSpPr>
        <p:spPr>
          <a:xfrm>
            <a:off x="694944" y="596188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Báo cáo dự án  |  1/14</a:t>
            </a:r>
            <a:endParaRPr lang="en-US" sz="900" dirty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óm tắt điều hành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EXECUTIVE SUMMARY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Tóm tắt điều hành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hero statement"/>
          <p:cNvSpPr/>
          <p:nvPr/>
        </p:nvSpPr>
        <p:spPr>
          <a:xfrm>
            <a:off x="713232" y="1481328"/>
            <a:ext cx="10771632" cy="105156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9" name="statement"/>
          <p:cNvSpPr txBox="1"/>
          <p:nvPr/>
        </p:nvSpPr>
        <p:spPr>
          <a:xfrm>
            <a:off x="914400" y="1700784"/>
            <a:ext cx="10287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7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ProofPay biến thanh toán freelancer, bounty và milestone thành một workflow có điều kiện thay vì một giao dịch token một chiều.</a:t>
            </a:r>
            <a:endParaRPr lang="en-US" sz="17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ard Niềm tin trước khi làm"/>
          <p:cNvSpPr/>
          <p:nvPr/>
        </p:nvSpPr>
        <p:spPr>
          <a:xfrm>
            <a:off x="713232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1" name="card accent Niềm tin trước khi làm"/>
          <p:cNvSpPr/>
          <p:nvPr/>
        </p:nvSpPr>
        <p:spPr>
          <a:xfrm>
            <a:off x="713232" y="2907792"/>
            <a:ext cx="73152" cy="228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card title Niềm tin trước khi làm"/>
          <p:cNvSpPr txBox="1"/>
          <p:nvPr/>
        </p:nvSpPr>
        <p:spPr>
          <a:xfrm>
            <a:off x="859536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Niềm tin trước khi làm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card body Niềm tin trước khi làm"/>
          <p:cNvSpPr txBox="1"/>
          <p:nvPr/>
        </p:nvSpPr>
        <p:spPr>
          <a:xfrm>
            <a:off x="859536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Payer fund escrow để payee thấy tiền đã được khóa.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card Proof thay lời hứa"/>
          <p:cNvSpPr/>
          <p:nvPr/>
        </p:nvSpPr>
        <p:spPr>
          <a:xfrm>
            <a:off x="3529584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5" name="card accent Proof thay lời hứa"/>
          <p:cNvSpPr/>
          <p:nvPr/>
        </p:nvSpPr>
        <p:spPr>
          <a:xfrm>
            <a:off x="3529584" y="2907792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card title Proof thay lời hứa"/>
          <p:cNvSpPr txBox="1"/>
          <p:nvPr/>
        </p:nvSpPr>
        <p:spPr>
          <a:xfrm>
            <a:off x="3675887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Proof thay lời hứa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card body Proof thay lời hứa"/>
          <p:cNvSpPr txBox="1"/>
          <p:nvPr/>
        </p:nvSpPr>
        <p:spPr>
          <a:xfrm>
            <a:off x="3675887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PR merged, deadline và author trở thành điều kiện thanh toán.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card Settlement theo rule"/>
          <p:cNvSpPr/>
          <p:nvPr/>
        </p:nvSpPr>
        <p:spPr>
          <a:xfrm>
            <a:off x="6345936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card accent Settlement theo rule"/>
          <p:cNvSpPr/>
          <p:nvPr/>
        </p:nvSpPr>
        <p:spPr>
          <a:xfrm>
            <a:off x="6345936" y="2907792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0" name="card title Settlement theo rule"/>
          <p:cNvSpPr txBox="1"/>
          <p:nvPr/>
        </p:nvSpPr>
        <p:spPr>
          <a:xfrm>
            <a:off x="6492240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Settlement theo rule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card body Settlement theo rule"/>
          <p:cNvSpPr txBox="1"/>
          <p:nvPr/>
        </p:nvSpPr>
        <p:spPr>
          <a:xfrm>
            <a:off x="6492240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Verified thì release; fail hoặc quá hạn thì refund/dispute.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card Fit với Rialo"/>
          <p:cNvSpPr/>
          <p:nvPr/>
        </p:nvSpPr>
        <p:spPr>
          <a:xfrm>
            <a:off x="9162288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3" name="card accent Fit với Rialo"/>
          <p:cNvSpPr/>
          <p:nvPr/>
        </p:nvSpPr>
        <p:spPr>
          <a:xfrm>
            <a:off x="9162288" y="2907792"/>
            <a:ext cx="73152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4" name="card title Fit với Rialo"/>
          <p:cNvSpPr txBox="1"/>
          <p:nvPr/>
        </p:nvSpPr>
        <p:spPr>
          <a:xfrm>
            <a:off x="9308592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Fit với Rialo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card body Fit với Rialo"/>
          <p:cNvSpPr txBox="1"/>
          <p:nvPr/>
        </p:nvSpPr>
        <p:spPr>
          <a:xfrm>
            <a:off x="9308592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Reactive, async, workflow và Edge là đúng lớp hạ tầng cho mô hình này.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ProofPay report  |  2/14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ấn đề cần giải quyết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PROBLEM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Vấn đề cần giải quyết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Client không muốn trả trước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Client không muốn trả trước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card title Client không muốn trả trước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Client không muốn trả trước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Client không muốn trả trước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Rủi ro người làm không giao đúng cam kết.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Developer sợ không được trả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Developer sợ không được trả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4" name="card title Developer sợ không được trả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Developer sợ không được trả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Developer sợ không được trả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Làm xong mới đòi tiền tạo rủi ro cashflow và dispute.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Transfer token quá đơn giản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Transfer token quá đơn giản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card title Transfer token quá đơn giản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Transfer token quá đơn giản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Transfer token quá đơn giản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Không gắn payment với điều kiện công việc.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Escrow tập trung chậm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Escrow tập trung chậm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Escrow tập trung chậm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Escrow tập trung chậm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Escrow tập trung chậm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Cần bên thứ ba giữ tiền, xử lý thủ công và phí cao.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Private repo khó chứng minh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Private repo khó chứng minh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card title Private repo khó chứng minh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 khó chứng minh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Private repo khó chứng minh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Không thể public source code chỉ để chứng minh công việc.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Thiếu audit trail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Thiếu audit trail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card title Thiếu audit trail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Thiếu audit trail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Thiếu audit trail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Ai fund, ai verify, vì sao release/refund phải truy vết được.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Trust gap trong online work  |  3/14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Ý tưởng sản phẩm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PROOF-BASED ESCROW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Ý tưởng sản phẩm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 1"/>
          <p:cNvSpPr/>
          <p:nvPr/>
        </p:nvSpPr>
        <p:spPr>
          <a:xfrm>
            <a:off x="68580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step bar 1"/>
          <p:cNvSpPr/>
          <p:nvPr/>
        </p:nvSpPr>
        <p:spPr>
          <a:xfrm>
            <a:off x="685800" y="1874519"/>
            <a:ext cx="1572768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step title 1"/>
          <p:cNvSpPr txBox="1"/>
          <p:nvPr/>
        </p:nvSpPr>
        <p:spPr>
          <a:xfrm>
            <a:off x="77724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tep body 1"/>
          <p:cNvSpPr txBox="1"/>
          <p:nvPr/>
        </p:nvSpPr>
        <p:spPr>
          <a:xfrm>
            <a:off x="795528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Deal + rule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arrow 1"/>
          <p:cNvSpPr txBox="1"/>
          <p:nvPr/>
        </p:nvSpPr>
        <p:spPr>
          <a:xfrm>
            <a:off x="2331720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tep 2"/>
          <p:cNvSpPr/>
          <p:nvPr/>
        </p:nvSpPr>
        <p:spPr>
          <a:xfrm>
            <a:off x="2578608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step bar 2"/>
          <p:cNvSpPr/>
          <p:nvPr/>
        </p:nvSpPr>
        <p:spPr>
          <a:xfrm>
            <a:off x="2578608" y="1874519"/>
            <a:ext cx="1572768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step title 2"/>
          <p:cNvSpPr txBox="1"/>
          <p:nvPr/>
        </p:nvSpPr>
        <p:spPr>
          <a:xfrm>
            <a:off x="2670048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Fund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 body 2"/>
          <p:cNvSpPr txBox="1"/>
          <p:nvPr/>
        </p:nvSpPr>
        <p:spPr>
          <a:xfrm>
            <a:off x="2688336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Lock RIALO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rrow 2"/>
          <p:cNvSpPr txBox="1"/>
          <p:nvPr/>
        </p:nvSpPr>
        <p:spPr>
          <a:xfrm>
            <a:off x="4224528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tep 3"/>
          <p:cNvSpPr/>
          <p:nvPr/>
        </p:nvSpPr>
        <p:spPr>
          <a:xfrm>
            <a:off x="4471416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step bar 3"/>
          <p:cNvSpPr/>
          <p:nvPr/>
        </p:nvSpPr>
        <p:spPr>
          <a:xfrm>
            <a:off x="4471416" y="1874519"/>
            <a:ext cx="1572768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0" name="step title 3"/>
          <p:cNvSpPr txBox="1"/>
          <p:nvPr/>
        </p:nvSpPr>
        <p:spPr>
          <a:xfrm>
            <a:off x="4562855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Verify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step body 3"/>
          <p:cNvSpPr txBox="1"/>
          <p:nvPr/>
        </p:nvSpPr>
        <p:spPr>
          <a:xfrm>
            <a:off x="4581144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Check proof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rrow 3"/>
          <p:cNvSpPr txBox="1"/>
          <p:nvPr/>
        </p:nvSpPr>
        <p:spPr>
          <a:xfrm>
            <a:off x="6117336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tep 4"/>
          <p:cNvSpPr/>
          <p:nvPr/>
        </p:nvSpPr>
        <p:spPr>
          <a:xfrm>
            <a:off x="6364223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step bar 4"/>
          <p:cNvSpPr/>
          <p:nvPr/>
        </p:nvSpPr>
        <p:spPr>
          <a:xfrm>
            <a:off x="6364223" y="1874519"/>
            <a:ext cx="1572768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step title 4"/>
          <p:cNvSpPr txBox="1"/>
          <p:nvPr/>
        </p:nvSpPr>
        <p:spPr>
          <a:xfrm>
            <a:off x="6455663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Anchor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tep body 4"/>
          <p:cNvSpPr txBox="1"/>
          <p:nvPr/>
        </p:nvSpPr>
        <p:spPr>
          <a:xfrm>
            <a:off x="6473951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 hash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arrow 4"/>
          <p:cNvSpPr txBox="1"/>
          <p:nvPr/>
        </p:nvSpPr>
        <p:spPr>
          <a:xfrm>
            <a:off x="8010144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ep 5"/>
          <p:cNvSpPr/>
          <p:nvPr/>
        </p:nvSpPr>
        <p:spPr>
          <a:xfrm>
            <a:off x="8257031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step bar 5"/>
          <p:cNvSpPr/>
          <p:nvPr/>
        </p:nvSpPr>
        <p:spPr>
          <a:xfrm>
            <a:off x="8257031" y="1874519"/>
            <a:ext cx="1572768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step title 5"/>
          <p:cNvSpPr txBox="1"/>
          <p:nvPr/>
        </p:nvSpPr>
        <p:spPr>
          <a:xfrm>
            <a:off x="8348471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Settle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step body 5"/>
          <p:cNvSpPr txBox="1"/>
          <p:nvPr/>
        </p:nvSpPr>
        <p:spPr>
          <a:xfrm>
            <a:off x="8366759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Release / refund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arrow 5"/>
          <p:cNvSpPr txBox="1"/>
          <p:nvPr/>
        </p:nvSpPr>
        <p:spPr>
          <a:xfrm>
            <a:off x="9902952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tep 6"/>
          <p:cNvSpPr/>
          <p:nvPr/>
        </p:nvSpPr>
        <p:spPr>
          <a:xfrm>
            <a:off x="1014984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step bar 6"/>
          <p:cNvSpPr/>
          <p:nvPr/>
        </p:nvSpPr>
        <p:spPr>
          <a:xfrm>
            <a:off x="10149840" y="1874519"/>
            <a:ext cx="1572768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step title 6"/>
          <p:cNvSpPr txBox="1"/>
          <p:nvPr/>
        </p:nvSpPr>
        <p:spPr>
          <a:xfrm>
            <a:off x="1024128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Audit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step body 6"/>
          <p:cNvSpPr txBox="1"/>
          <p:nvPr/>
        </p:nvSpPr>
        <p:spPr>
          <a:xfrm>
            <a:off x="10259567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Events + tx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note"/>
          <p:cNvSpPr/>
          <p:nvPr/>
        </p:nvSpPr>
        <p:spPr>
          <a:xfrm>
            <a:off x="914400" y="4251960"/>
            <a:ext cx="10058400" cy="822960"/>
          </a:xfrm>
          <a:prstGeom prst="rect">
            <a:avLst/>
          </a:prstGeom>
          <a:solidFill>
            <a:srgbClr val="ECFDF3"/>
          </a:solidFill>
          <a:ln w="9525">
            <a:solidFill>
              <a:srgbClr val="ABEFC6"/>
            </a:solidFill>
          </a:ln>
        </p:spPr>
      </p:sp>
      <p:sp>
        <p:nvSpPr>
          <p:cNvPr id="38" name="note text"/>
          <p:cNvSpPr txBox="1"/>
          <p:nvPr/>
        </p:nvSpPr>
        <p:spPr>
          <a:xfrm>
            <a:off x="1051560" y="4443984"/>
            <a:ext cx="9738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Câu demo dễ hiểu: trả 100 RIALO nếu GitHub PR #42 được merge trước deadline.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Core flow  |  4/14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ofPay tận dụng Rialo như thế nà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FIT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ProofPay tận dụng Rialo như thế nào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head"/>
          <p:cNvSpPr txBox="1"/>
          <p:nvPr/>
        </p:nvSpPr>
        <p:spPr>
          <a:xfrm>
            <a:off x="868680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primitive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ight head"/>
          <p:cNvSpPr txBox="1"/>
          <p:nvPr/>
        </p:nvSpPr>
        <p:spPr>
          <a:xfrm>
            <a:off x="5715000" y="1417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Giá trị cho ProofPay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w Reactive Transactions"/>
          <p:cNvSpPr/>
          <p:nvPr/>
        </p:nvSpPr>
        <p:spPr>
          <a:xfrm>
            <a:off x="749808" y="1828800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1" name="row accent Reactive Transactions"/>
          <p:cNvSpPr/>
          <p:nvPr/>
        </p:nvSpPr>
        <p:spPr>
          <a:xfrm>
            <a:off x="749808" y="1828800"/>
            <a:ext cx="73152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left Reactive Transactions"/>
          <p:cNvSpPr txBox="1"/>
          <p:nvPr/>
        </p:nvSpPr>
        <p:spPr>
          <a:xfrm>
            <a:off x="932688" y="1965960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Reactive Transactions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ight Reactive Transactions"/>
          <p:cNvSpPr txBox="1"/>
          <p:nvPr/>
        </p:nvSpPr>
        <p:spPr>
          <a:xfrm>
            <a:off x="5715000" y="194767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Đây là kiểu logic mà ProofPay muốn map sang Rialo thật: đủ điều kiện thì tự settle.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w Async Transactions"/>
          <p:cNvSpPr/>
          <p:nvPr/>
        </p:nvSpPr>
        <p:spPr>
          <a:xfrm>
            <a:off x="749808" y="2523744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5" name="row accent Async Transactions"/>
          <p:cNvSpPr/>
          <p:nvPr/>
        </p:nvSpPr>
        <p:spPr>
          <a:xfrm>
            <a:off x="749808" y="2523744"/>
            <a:ext cx="73152" cy="5852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left Async Transactions"/>
          <p:cNvSpPr txBox="1"/>
          <p:nvPr/>
        </p:nvSpPr>
        <p:spPr>
          <a:xfrm>
            <a:off x="932688" y="2660903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Async Transactions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ight Async Transactions"/>
          <p:cNvSpPr txBox="1"/>
          <p:nvPr/>
        </p:nvSpPr>
        <p:spPr>
          <a:xfrm>
            <a:off x="5715000" y="2642615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Phù hợp với verify GitHub/off-chain proof rồi mới tiếp tục release hoặc refund.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ow Rialo Edge"/>
          <p:cNvSpPr/>
          <p:nvPr/>
        </p:nvSpPr>
        <p:spPr>
          <a:xfrm>
            <a:off x="749808" y="3218687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row accent Rialo Edge"/>
          <p:cNvSpPr/>
          <p:nvPr/>
        </p:nvSpPr>
        <p:spPr>
          <a:xfrm>
            <a:off x="749808" y="3218687"/>
            <a:ext cx="73152" cy="5852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0" name="left Rialo Edge"/>
          <p:cNvSpPr txBox="1"/>
          <p:nvPr/>
        </p:nvSpPr>
        <p:spPr>
          <a:xfrm>
            <a:off x="932688" y="3355847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Edge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ight Rialo Edge"/>
          <p:cNvSpPr txBox="1"/>
          <p:nvPr/>
        </p:nvSpPr>
        <p:spPr>
          <a:xfrm>
            <a:off x="5715000" y="3337559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Là điểm mạnh để nối GitHub, private repo và API ngoài vào workflow production.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ow Rialo Workflow"/>
          <p:cNvSpPr/>
          <p:nvPr/>
        </p:nvSpPr>
        <p:spPr>
          <a:xfrm>
            <a:off x="749808" y="3913631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3" name="row accent Rialo Workflow"/>
          <p:cNvSpPr/>
          <p:nvPr/>
        </p:nvSpPr>
        <p:spPr>
          <a:xfrm>
            <a:off x="749808" y="3913631"/>
            <a:ext cx="73152" cy="5852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left Rialo Workflow"/>
          <p:cNvSpPr txBox="1"/>
          <p:nvPr/>
        </p:nvSpPr>
        <p:spPr>
          <a:xfrm>
            <a:off x="932688" y="4050791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Workflow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ight Rialo Workflow"/>
          <p:cNvSpPr txBox="1"/>
          <p:nvPr/>
        </p:nvSpPr>
        <p:spPr>
          <a:xfrm>
            <a:off x="5715000" y="4032503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Chính là mô hình sản phẩm của ProofPay: create, fund, verify, release, refund, dispute.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ow IPC + privacy"/>
          <p:cNvSpPr/>
          <p:nvPr/>
        </p:nvSpPr>
        <p:spPr>
          <a:xfrm>
            <a:off x="749808" y="4608575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7" name="row accent IPC + privacy"/>
          <p:cNvSpPr/>
          <p:nvPr/>
        </p:nvSpPr>
        <p:spPr>
          <a:xfrm>
            <a:off x="749808" y="4608575"/>
            <a:ext cx="73152" cy="5852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left IPC + privacy"/>
          <p:cNvSpPr txBox="1"/>
          <p:nvPr/>
        </p:nvSpPr>
        <p:spPr>
          <a:xfrm>
            <a:off x="932688" y="4745736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IPC + privacy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ight IPC + privacy"/>
          <p:cNvSpPr txBox="1"/>
          <p:nvPr/>
        </p:nvSpPr>
        <p:spPr>
          <a:xfrm>
            <a:off x="5715000" y="4727447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Hợp với case private repo: chỉ ghi proof hash và result, không lộ raw code.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ow Omni Account / Interop"/>
          <p:cNvSpPr/>
          <p:nvPr/>
        </p:nvSpPr>
        <p:spPr>
          <a:xfrm>
            <a:off x="749808" y="5303519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1" name="row accent Omni Account / Interop"/>
          <p:cNvSpPr/>
          <p:nvPr/>
        </p:nvSpPr>
        <p:spPr>
          <a:xfrm>
            <a:off x="749808" y="5303519"/>
            <a:ext cx="73152" cy="58521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left Omni Account / Interop"/>
          <p:cNvSpPr txBox="1"/>
          <p:nvPr/>
        </p:nvSpPr>
        <p:spPr>
          <a:xfrm>
            <a:off x="932688" y="5440679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 Account / Interop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right Omni Account / Interop"/>
          <p:cNvSpPr txBox="1"/>
          <p:nvPr/>
        </p:nvSpPr>
        <p:spPr>
          <a:xfrm>
            <a:off x="5715000" y="5422391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Chưa dùng trong prototype, nhưng là hướng mở rộng nếu support multi-network payments.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Slide này nói về độ phù hợp của Rialo với sản phẩm, chưa phải integration thật  |  5/14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ự án đang dùng Rialo ở mức nà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NOW VS LATER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Dự án đang dùng Rialo ở mức nào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Đang dùng thật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Đang dùng thật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0" name="card title Đang dùng thật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Đang dùng thật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Đang dùng thật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Adapter boundary, escrow lifecycle, proof-hash flow và state machine được thiết kế theo mô hình Rialo.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Đang mock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Đang mock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4" name="card title Đang mock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Đang mock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Đang mock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create escrow, fund, anchor proof, release, refund hiện mới trả mock tx hash qua MockRialoAdapter.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Chưa lên Rialo chain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Chưa lên Rialo chain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8" name="card title Chưa lên Rialo chain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Chưa lên Rialo chain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Chưa lên Rialo chain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Chưa có custody tài sản thật, chưa có signed transaction, chưa có program/service trên devnet.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Chỗ cắm hiện tại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Chỗ cắm hiện tại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Chỗ cắm hiện tại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Chỗ cắm hiện tại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Chỗ cắm hiện tại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Backend gọi rialoAdapter ở create, fund, verify-&gt;submitProofHash, release, refund.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Giá trị hiện tại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Giá trị hiện tại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card title Giá trị hiện tại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Giá trị hiện tại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Giá trị hiện tại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Cho phép validate UX, API, verifier, audit trail trước khi build chain integration tốn kém.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Bước kế tiếp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Bước kế tiếp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card title Bước kế tiếp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Bước kế tiếp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Bước kế tiếp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Thay MockRialoAdapter bằng Rialo Rust microservice hoặc rialo-cdk path như README đã nêu.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Đây là phần cần nói rõ khi demo để tránh hiểu nhầm  |  6/14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ợi thế công nghệ Rial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WHY RIALO MATTERS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Lợi thế công nghệ Rialo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Tốc độ settlement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Tốc độ settlement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0" name="card title Tốc độ settlement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Tốc độ settlement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Tốc độ settlement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Dev Portal nêu finality khoảng 0.13s và block time khoảng 0.05s.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Throughput cao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Throughput cao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Throughput cao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Throughput cao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Throughput cao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Execution TPS được định vị ở mức 1M+ cho workload lớn.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Reaction time cực thấp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Reaction time cực thấp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8" name="card title Reaction time cực thấp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Reaction time cực thấp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Reaction time cực thấp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Reaction time 0.000001s phù hợp conditional automation.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Edge cho Web2 calls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Edge cho Web2 calls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2" name="card title Edge cho Web2 calls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Edge cho Web2 calls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Edge cho Web2 calls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Edge hướng tới bidirectional Web2 interactivity và 100k+ concurrent calls.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Workflow native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Workflow native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card title Workflow native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Workflow native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Workflow native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Native automation giúp escrow nhiều bước gần với logic đời thực.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Gas-less path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Gas-less path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card title Gas-less path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Gas-less path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Gas-less path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Cruise mở đường cho giao dịch low-to-zero fee trong UX production.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Các điểm này làm ProofPay khác escrow Web3 truyền thống  |  7/14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iến trúc hiện tại và đường nâng cấp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TECHNICAL ARCHITECTURE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Kiến trúc hiện tại và đường nâng cấp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ayer 1"/>
          <p:cNvSpPr/>
          <p:nvPr/>
        </p:nvSpPr>
        <p:spPr>
          <a:xfrm>
            <a:off x="868680" y="1481328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ayer accent 1"/>
          <p:cNvSpPr/>
          <p:nvPr/>
        </p:nvSpPr>
        <p:spPr>
          <a:xfrm>
            <a:off x="868680" y="1481328"/>
            <a:ext cx="91440" cy="69494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layer title 1"/>
          <p:cNvSpPr txBox="1"/>
          <p:nvPr/>
        </p:nvSpPr>
        <p:spPr>
          <a:xfrm>
            <a:off x="1097280" y="162763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Static DApp UI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ayer body 1"/>
          <p:cNvSpPr txBox="1"/>
          <p:nvPr/>
        </p:nvSpPr>
        <p:spPr>
          <a:xfrm>
            <a:off x="3657600" y="160934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Dashboard, wallet session simulation, RIALO ledger, escrow actions.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down 1"/>
          <p:cNvSpPr txBox="1"/>
          <p:nvPr/>
        </p:nvSpPr>
        <p:spPr>
          <a:xfrm>
            <a:off x="5559552" y="22037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layer 2"/>
          <p:cNvSpPr/>
          <p:nvPr/>
        </p:nvSpPr>
        <p:spPr>
          <a:xfrm>
            <a:off x="868680" y="2331720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layer accent 2"/>
          <p:cNvSpPr/>
          <p:nvPr/>
        </p:nvSpPr>
        <p:spPr>
          <a:xfrm>
            <a:off x="868680" y="2331720"/>
            <a:ext cx="91440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layer title 2"/>
          <p:cNvSpPr txBox="1"/>
          <p:nvPr/>
        </p:nvSpPr>
        <p:spPr>
          <a:xfrm>
            <a:off x="1097280" y="247802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Node.js / Express API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layer body 2"/>
          <p:cNvSpPr txBox="1"/>
          <p:nvPr/>
        </p:nvSpPr>
        <p:spPr>
          <a:xfrm>
            <a:off x="3657600" y="245973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Deal lifecycle, validation, routes fund / verify / release / refund / dispute.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down 2"/>
          <p:cNvSpPr txBox="1"/>
          <p:nvPr/>
        </p:nvSpPr>
        <p:spPr>
          <a:xfrm>
            <a:off x="5559552" y="305409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layer 3"/>
          <p:cNvSpPr/>
          <p:nvPr/>
        </p:nvSpPr>
        <p:spPr>
          <a:xfrm>
            <a:off x="868680" y="3182112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layer accent 3"/>
          <p:cNvSpPr/>
          <p:nvPr/>
        </p:nvSpPr>
        <p:spPr>
          <a:xfrm>
            <a:off x="868680" y="3182112"/>
            <a:ext cx="91440" cy="69494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layer title 3"/>
          <p:cNvSpPr txBox="1"/>
          <p:nvPr/>
        </p:nvSpPr>
        <p:spPr>
          <a:xfrm>
            <a:off x="1097280" y="3328416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Storage abstraction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layer body 3"/>
          <p:cNvSpPr txBox="1"/>
          <p:nvPr/>
        </p:nvSpPr>
        <p:spPr>
          <a:xfrm>
            <a:off x="3657600" y="33101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Local JSON fallback, Vercel KV / Upstash path cho state bền vững.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down 3"/>
          <p:cNvSpPr txBox="1"/>
          <p:nvPr/>
        </p:nvSpPr>
        <p:spPr>
          <a:xfrm>
            <a:off x="5559552" y="39044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layer 4"/>
          <p:cNvSpPr/>
          <p:nvPr/>
        </p:nvSpPr>
        <p:spPr>
          <a:xfrm>
            <a:off x="868680" y="4032504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layer accent 4"/>
          <p:cNvSpPr/>
          <p:nvPr/>
        </p:nvSpPr>
        <p:spPr>
          <a:xfrm>
            <a:off x="868680" y="4032504"/>
            <a:ext cx="91440" cy="69494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5" name="layer title 4"/>
          <p:cNvSpPr txBox="1"/>
          <p:nvPr/>
        </p:nvSpPr>
        <p:spPr>
          <a:xfrm>
            <a:off x="1097280" y="417880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GitHub verifier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layer body 4"/>
          <p:cNvSpPr txBox="1"/>
          <p:nvPr/>
        </p:nvSpPr>
        <p:spPr>
          <a:xfrm>
            <a:off x="3657600" y="41605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Kiểm tra owner, repo, PR number, merged status, deadline, expected author.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down 4"/>
          <p:cNvSpPr txBox="1"/>
          <p:nvPr/>
        </p:nvSpPr>
        <p:spPr>
          <a:xfrm>
            <a:off x="5559552" y="47548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layer 5"/>
          <p:cNvSpPr/>
          <p:nvPr/>
        </p:nvSpPr>
        <p:spPr>
          <a:xfrm>
            <a:off x="868680" y="4882896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layer accent 5"/>
          <p:cNvSpPr/>
          <p:nvPr/>
        </p:nvSpPr>
        <p:spPr>
          <a:xfrm>
            <a:off x="868680" y="4882896"/>
            <a:ext cx="91440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layer title 5"/>
          <p:cNvSpPr txBox="1"/>
          <p:nvPr/>
        </p:nvSpPr>
        <p:spPr>
          <a:xfrm>
            <a:off x="1097280" y="50292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Mock Rialo adapter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layer body 5"/>
          <p:cNvSpPr txBox="1"/>
          <p:nvPr/>
        </p:nvSpPr>
        <p:spPr>
          <a:xfrm>
            <a:off x="3657600" y="501091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Trả transaction-shaped response cho create escrow, fund, anchor, release, refund.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down 5"/>
          <p:cNvSpPr txBox="1"/>
          <p:nvPr/>
        </p:nvSpPr>
        <p:spPr>
          <a:xfrm>
            <a:off x="5559552" y="56052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layer 6"/>
          <p:cNvSpPr/>
          <p:nvPr/>
        </p:nvSpPr>
        <p:spPr>
          <a:xfrm>
            <a:off x="868680" y="5733288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layer accent 6"/>
          <p:cNvSpPr/>
          <p:nvPr/>
        </p:nvSpPr>
        <p:spPr>
          <a:xfrm>
            <a:off x="868680" y="5733288"/>
            <a:ext cx="91440" cy="69494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5" name="layer title 6"/>
          <p:cNvSpPr txBox="1"/>
          <p:nvPr/>
        </p:nvSpPr>
        <p:spPr>
          <a:xfrm>
            <a:off x="1097280" y="587959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Future Rialo service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layer body 6"/>
          <p:cNvSpPr txBox="1"/>
          <p:nvPr/>
        </p:nvSpPr>
        <p:spPr>
          <a:xfrm>
            <a:off x="3657600" y="5861303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Node API -&gt; Rialo Rust microservice -&gt; rialo-cdk -&gt; Rialo devnet/mainnet.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Prototype đã tách rõ product logic và chain adapter  |  8/14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type chứng minh được gì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SCOPE AND EVIDENCE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Prototype chứng minh được gì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panel"/>
          <p:cNvSpPr/>
          <p:nvPr/>
        </p:nvSpPr>
        <p:spPr>
          <a:xfrm>
            <a:off x="713232" y="1417320"/>
            <a:ext cx="48920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eft accent"/>
          <p:cNvSpPr/>
          <p:nvPr/>
        </p:nvSpPr>
        <p:spPr>
          <a:xfrm>
            <a:off x="713232" y="1417320"/>
            <a:ext cx="91440" cy="452628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0" name="left title"/>
          <p:cNvSpPr txBox="1"/>
          <p:nvPr/>
        </p:nvSpPr>
        <p:spPr>
          <a:xfrm>
            <a:off x="960120" y="169164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4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Điều cần nói thẳng</a:t>
            </a:r>
            <a:endParaRPr lang="en-US" sz="14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eft body"/>
          <p:cNvSpPr txBox="1"/>
          <p:nvPr/>
        </p:nvSpPr>
        <p:spPr>
          <a:xfrm>
            <a:off x="960120" y="2148840"/>
            <a:ext cx="4315968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Wallet, faucet, balance và tx hash đang được mô phỏng.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Chưa custody tài sản thật, chưa phải production-ready.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Giá trị chính là validate UX, state machine, verifier và chỗ gắn Rialo adapter.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Đang real"/>
          <p:cNvSpPr/>
          <p:nvPr/>
        </p:nvSpPr>
        <p:spPr>
          <a:xfrm>
            <a:off x="6080760" y="141732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Đang real"/>
          <p:cNvSpPr/>
          <p:nvPr/>
        </p:nvSpPr>
        <p:spPr>
          <a:xfrm>
            <a:off x="6080760" y="1417320"/>
            <a:ext cx="73152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4" name="card title Đang real"/>
          <p:cNvSpPr txBox="1"/>
          <p:nvPr/>
        </p:nvSpPr>
        <p:spPr>
          <a:xfrm>
            <a:off x="6227064" y="156362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Đang real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Đang real"/>
          <p:cNvSpPr txBox="1"/>
          <p:nvPr/>
        </p:nvSpPr>
        <p:spPr>
          <a:xfrm>
            <a:off x="6227064" y="192024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Express API, deal state machine, GitHub public PR verifier, storage layer, tests.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Đang mock"/>
          <p:cNvSpPr/>
          <p:nvPr/>
        </p:nvSpPr>
        <p:spPr>
          <a:xfrm>
            <a:off x="6080760" y="292608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Đang mock"/>
          <p:cNvSpPr/>
          <p:nvPr/>
        </p:nvSpPr>
        <p:spPr>
          <a:xfrm>
            <a:off x="6080760" y="2926080"/>
            <a:ext cx="73152" cy="1078992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8" name="card title Đang mock"/>
          <p:cNvSpPr txBox="1"/>
          <p:nvPr/>
        </p:nvSpPr>
        <p:spPr>
          <a:xfrm>
            <a:off x="6227064" y="307238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Đang mock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Đang mock"/>
          <p:cNvSpPr txBox="1"/>
          <p:nvPr/>
        </p:nvSpPr>
        <p:spPr>
          <a:xfrm>
            <a:off x="6227064" y="342900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Wallet session, RIALO balance, escrow custody, Rialo transaction hash.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Đã test"/>
          <p:cNvSpPr/>
          <p:nvPr/>
        </p:nvSpPr>
        <p:spPr>
          <a:xfrm>
            <a:off x="6080760" y="443484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Đã test"/>
          <p:cNvSpPr/>
          <p:nvPr/>
        </p:nvSpPr>
        <p:spPr>
          <a:xfrm>
            <a:off x="6080760" y="443484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Đã test"/>
          <p:cNvSpPr txBox="1"/>
          <p:nvPr/>
        </p:nvSpPr>
        <p:spPr>
          <a:xfrm>
            <a:off x="6227064" y="458114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Đã test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Đã test"/>
          <p:cNvSpPr txBox="1"/>
          <p:nvPr/>
        </p:nvSpPr>
        <p:spPr>
          <a:xfrm>
            <a:off x="6227064" y="4937759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Node built-in tests pass; build check pass; endpoint health smoke test pass.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Demo trung thực và dễ bảo vệ trước câu hỏi kỹ thuật  |  9/14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Điểm mạnh của dự án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STRENGTHS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Điểm mạnh của dự án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Product rõ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Product rõ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" name="card title Product rõ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Product rõ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Product rõ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Một câu đã hiểu: pay if proof is verified.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Proof machine-readable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Proof machine-readable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Proof machine-readable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Proof machine-readable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Proof machine-readable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PR metadata là proof đầu tiên, có API rõ.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State machine chặt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State machine chặt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card title State machine chặt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State machine chặt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State machine chặt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DRAFT -&gt; FUNDED -&gt; VERIFIED -&gt; RELEASED / REFUNDED.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Audit-first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Audit-first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card title Audit-first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Audit-first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Audit-first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 hash, tx hash và event trail phục vụ kiểm toán.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Mở rộng proof type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Mở rộng proof type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card title Mở rộng proof type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Mở rộng proof type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Mở rộng proof type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Issue closed, release tag, invoice approved, delivery confirmed.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Rialo-native path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Rialo-native path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30" name="card title Rialo-native path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Rialo-native path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Rialo-native path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Adapter pattern giúp nâng cấp từ mock sang real transaction.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Tốt cho builder audience và Web3 product review  |  10/14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vate repo: quyền truy cập và verifier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VERIFICATION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Private repo: quyền truy cập và verifier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panel"/>
          <p:cNvSpPr/>
          <p:nvPr/>
        </p:nvSpPr>
        <p:spPr>
          <a:xfrm>
            <a:off x="713232" y="1417320"/>
            <a:ext cx="48920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eft accent"/>
          <p:cNvSpPr/>
          <p:nvPr/>
        </p:nvSpPr>
        <p:spPr>
          <a:xfrm>
            <a:off x="713232" y="1417320"/>
            <a:ext cx="91440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0" name="left title"/>
          <p:cNvSpPr txBox="1"/>
          <p:nvPr/>
        </p:nvSpPr>
        <p:spPr>
          <a:xfrm>
            <a:off x="960120" y="169164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4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Quyền truy cập phải có trước deal</a:t>
            </a:r>
            <a:endParaRPr lang="en-US" sz="14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eft body"/>
          <p:cNvSpPr txBox="1"/>
          <p:nvPr/>
        </p:nvSpPr>
        <p:spPr>
          <a:xfrm>
            <a:off x="960120" y="2148840"/>
            <a:ext cx="4315968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Bên thuê mời collaborator vào private repo.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Hoặc thêm người làm vào org/team có quyền repo.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Hoặc assign task ở nền tảng ngoài rồi cấp access GitHub.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Sau khi thống nhất scope, amount và điều kiện PR, mới tạo deal ProofPay.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ProofPay kiểm tra gì"/>
          <p:cNvSpPr/>
          <p:nvPr/>
        </p:nvSpPr>
        <p:spPr>
          <a:xfrm>
            <a:off x="6080760" y="141732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ProofPay kiểm tra gì"/>
          <p:cNvSpPr/>
          <p:nvPr/>
        </p:nvSpPr>
        <p:spPr>
          <a:xfrm>
            <a:off x="6080760" y="141732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ProofPay kiểm tra gì"/>
          <p:cNvSpPr txBox="1"/>
          <p:nvPr/>
        </p:nvSpPr>
        <p:spPr>
          <a:xfrm>
            <a:off x="6227064" y="156362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ProofPay kiểm tra gì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ProofPay kiểm tra gì"/>
          <p:cNvSpPr txBox="1"/>
          <p:nvPr/>
        </p:nvSpPr>
        <p:spPr>
          <a:xfrm>
            <a:off x="6227064" y="192024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owner, repo, pullNumber, merged_at, expectedAuthor, deadline.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Tín hiệu hoàn thành"/>
          <p:cNvSpPr/>
          <p:nvPr/>
        </p:nvSpPr>
        <p:spPr>
          <a:xfrm>
            <a:off x="6080760" y="292608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Tín hiệu hoàn thành"/>
          <p:cNvSpPr/>
          <p:nvPr/>
        </p:nvSpPr>
        <p:spPr>
          <a:xfrm>
            <a:off x="6080760" y="2926080"/>
            <a:ext cx="73152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card title Tín hiệu hoàn thành"/>
          <p:cNvSpPr txBox="1"/>
          <p:nvPr/>
        </p:nvSpPr>
        <p:spPr>
          <a:xfrm>
            <a:off x="6227064" y="307238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Tín hiệu hoàn thành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Tín hiệu hoàn thành"/>
          <p:cNvSpPr txBox="1"/>
          <p:nvPr/>
        </p:nvSpPr>
        <p:spPr>
          <a:xfrm>
            <a:off x="6227064" y="342900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Không nên chỉ check commit. Điều kiện tốt hơn là PR merged vì thể hiện repo owner đã accept.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Private repo production"/>
          <p:cNvSpPr/>
          <p:nvPr/>
        </p:nvSpPr>
        <p:spPr>
          <a:xfrm>
            <a:off x="6080760" y="443484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Private repo production"/>
          <p:cNvSpPr/>
          <p:nvPr/>
        </p:nvSpPr>
        <p:spPr>
          <a:xfrm>
            <a:off x="6080760" y="4434840"/>
            <a:ext cx="73152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card title Private repo production"/>
          <p:cNvSpPr txBox="1"/>
          <p:nvPr/>
        </p:nvSpPr>
        <p:spPr>
          <a:xfrm>
            <a:off x="6227064" y="458114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 production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Private repo production"/>
          <p:cNvSpPr txBox="1"/>
          <p:nvPr/>
        </p:nvSpPr>
        <p:spPr>
          <a:xfrm>
            <a:off x="6227064" y="4937759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Dùng GitHub App scoped permissions để đọc PR metadata, rồi chỉ publish proofHash/result.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ProofPay không cấp quyền vào repo; ProofPay chỉ verify bằng chứng sau khi quyền đã được cấp  |  11/14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iệu quả và use case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IMPACT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Hiệu quả và use case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Freelancer engineering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Freelancer engineering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card title Freelancer engineering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Freelancer engineering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Freelancer engineering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Thanh toán theo PR merged hoặc milestone đã đạt.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DAO bounty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DAO bounty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4" name="card title DAO bounty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DAO bounty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DAO bounty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Fund bounty trước, release theo proof công khai.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Private repo work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Private repo work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card title Private repo work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 work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Private repo work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App đọc metadata, chỉ publish proof hash/result.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Agency milestone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Agency milestone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2" name="card title Agency milestone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Agency milestone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Agency milestone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Nhiều escrow nhỏ thay vì release toàn bộ ngân sách.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Invoice / delivery proof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Invoice / delivery proof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card title Invoice / delivery proof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Invoice / delivery proof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Invoice / delivery proof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Mở rộng sang proof ngoài GitHub qua API hoặc oracle.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Enterprise workflow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Enterprise workflow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card title Enterprise workflow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Enterprise workflow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Enterprise workflow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Có audit, policy, deadline và dispute path rõ ràng.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Hiệu quả đến từ giảm dispute và giảm xử lý thủ công  |  12/14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 production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NEXT STEPS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Roadmap production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 1"/>
          <p:cNvSpPr/>
          <p:nvPr/>
        </p:nvSpPr>
        <p:spPr>
          <a:xfrm>
            <a:off x="68580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step bar 1"/>
          <p:cNvSpPr/>
          <p:nvPr/>
        </p:nvSpPr>
        <p:spPr>
          <a:xfrm>
            <a:off x="685800" y="1874519"/>
            <a:ext cx="1572768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step title 1"/>
          <p:cNvSpPr txBox="1"/>
          <p:nvPr/>
        </p:nvSpPr>
        <p:spPr>
          <a:xfrm>
            <a:off x="77724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Wallet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tep body 1"/>
          <p:cNvSpPr txBox="1"/>
          <p:nvPr/>
        </p:nvSpPr>
        <p:spPr>
          <a:xfrm>
            <a:off x="795528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Real signing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arrow 1"/>
          <p:cNvSpPr txBox="1"/>
          <p:nvPr/>
        </p:nvSpPr>
        <p:spPr>
          <a:xfrm>
            <a:off x="2331720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tep 2"/>
          <p:cNvSpPr/>
          <p:nvPr/>
        </p:nvSpPr>
        <p:spPr>
          <a:xfrm>
            <a:off x="2578608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step bar 2"/>
          <p:cNvSpPr/>
          <p:nvPr/>
        </p:nvSpPr>
        <p:spPr>
          <a:xfrm>
            <a:off x="2578608" y="1874519"/>
            <a:ext cx="1572768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step title 2"/>
          <p:cNvSpPr txBox="1"/>
          <p:nvPr/>
        </p:nvSpPr>
        <p:spPr>
          <a:xfrm>
            <a:off x="2670048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Storage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 body 2"/>
          <p:cNvSpPr txBox="1"/>
          <p:nvPr/>
        </p:nvSpPr>
        <p:spPr>
          <a:xfrm>
            <a:off x="2688336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KV / DB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rrow 2"/>
          <p:cNvSpPr txBox="1"/>
          <p:nvPr/>
        </p:nvSpPr>
        <p:spPr>
          <a:xfrm>
            <a:off x="4224528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tep 3"/>
          <p:cNvSpPr/>
          <p:nvPr/>
        </p:nvSpPr>
        <p:spPr>
          <a:xfrm>
            <a:off x="4471416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step bar 3"/>
          <p:cNvSpPr/>
          <p:nvPr/>
        </p:nvSpPr>
        <p:spPr>
          <a:xfrm>
            <a:off x="4471416" y="1874519"/>
            <a:ext cx="1572768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step title 3"/>
          <p:cNvSpPr txBox="1"/>
          <p:nvPr/>
        </p:nvSpPr>
        <p:spPr>
          <a:xfrm>
            <a:off x="4562855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GitHub App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step body 3"/>
          <p:cNvSpPr txBox="1"/>
          <p:nvPr/>
        </p:nvSpPr>
        <p:spPr>
          <a:xfrm>
            <a:off x="4581144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Private repo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rrow 3"/>
          <p:cNvSpPr txBox="1"/>
          <p:nvPr/>
        </p:nvSpPr>
        <p:spPr>
          <a:xfrm>
            <a:off x="6117336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tep 4"/>
          <p:cNvSpPr/>
          <p:nvPr/>
        </p:nvSpPr>
        <p:spPr>
          <a:xfrm>
            <a:off x="6364223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step bar 4"/>
          <p:cNvSpPr/>
          <p:nvPr/>
        </p:nvSpPr>
        <p:spPr>
          <a:xfrm>
            <a:off x="6364223" y="1874519"/>
            <a:ext cx="1572768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step title 4"/>
          <p:cNvSpPr txBox="1"/>
          <p:nvPr/>
        </p:nvSpPr>
        <p:spPr>
          <a:xfrm>
            <a:off x="6455663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tep body 4"/>
          <p:cNvSpPr txBox="1"/>
          <p:nvPr/>
        </p:nvSpPr>
        <p:spPr>
          <a:xfrm>
            <a:off x="6473951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Real adapter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arrow 4"/>
          <p:cNvSpPr txBox="1"/>
          <p:nvPr/>
        </p:nvSpPr>
        <p:spPr>
          <a:xfrm>
            <a:off x="8010144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ep 5"/>
          <p:cNvSpPr/>
          <p:nvPr/>
        </p:nvSpPr>
        <p:spPr>
          <a:xfrm>
            <a:off x="8257031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step bar 5"/>
          <p:cNvSpPr/>
          <p:nvPr/>
        </p:nvSpPr>
        <p:spPr>
          <a:xfrm>
            <a:off x="8257031" y="1874519"/>
            <a:ext cx="1572768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30" name="step title 5"/>
          <p:cNvSpPr txBox="1"/>
          <p:nvPr/>
        </p:nvSpPr>
        <p:spPr>
          <a:xfrm>
            <a:off x="8348471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Policy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step body 5"/>
          <p:cNvSpPr txBox="1"/>
          <p:nvPr/>
        </p:nvSpPr>
        <p:spPr>
          <a:xfrm>
            <a:off x="8366759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Roles + auth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arrow 5"/>
          <p:cNvSpPr txBox="1"/>
          <p:nvPr/>
        </p:nvSpPr>
        <p:spPr>
          <a:xfrm>
            <a:off x="9902952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tep 6"/>
          <p:cNvSpPr/>
          <p:nvPr/>
        </p:nvSpPr>
        <p:spPr>
          <a:xfrm>
            <a:off x="1014984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step bar 6"/>
          <p:cNvSpPr/>
          <p:nvPr/>
        </p:nvSpPr>
        <p:spPr>
          <a:xfrm>
            <a:off x="10149840" y="1874519"/>
            <a:ext cx="1572768" cy="146304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35" name="step title 6"/>
          <p:cNvSpPr txBox="1"/>
          <p:nvPr/>
        </p:nvSpPr>
        <p:spPr>
          <a:xfrm>
            <a:off x="1024128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Security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step body 6"/>
          <p:cNvSpPr txBox="1"/>
          <p:nvPr/>
        </p:nvSpPr>
        <p:spPr>
          <a:xfrm>
            <a:off x="10259567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Audit + dispute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note"/>
          <p:cNvSpPr/>
          <p:nvPr/>
        </p:nvSpPr>
        <p:spPr>
          <a:xfrm>
            <a:off x="914400" y="4251960"/>
            <a:ext cx="10058400" cy="822960"/>
          </a:xfrm>
          <a:prstGeom prst="rect">
            <a:avLst/>
          </a:prstGeom>
          <a:solidFill>
            <a:srgbClr val="ECFDF3"/>
          </a:solidFill>
          <a:ln w="9525">
            <a:solidFill>
              <a:srgbClr val="ABEFC6"/>
            </a:solidFill>
          </a:ln>
        </p:spPr>
      </p:sp>
      <p:sp>
        <p:nvSpPr>
          <p:cNvPr id="38" name="note text"/>
          <p:cNvSpPr txBox="1"/>
          <p:nvPr/>
        </p:nvSpPr>
        <p:spPr>
          <a:xfrm>
            <a:off x="1051560" y="4443984"/>
            <a:ext cx="9738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MVP production nên khóa scope: GitHub PR escrow trước, sau đó mở proof type khác.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Từ prototype sang Rialo-native escrow  |  13/14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ết luận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3232" y="694944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30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Kết luận</a:t>
            </a:r>
            <a:endParaRPr lang="en-US" sz="300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closing"/>
          <p:cNvSpPr txBox="1"/>
          <p:nvPr/>
        </p:nvSpPr>
        <p:spPr>
          <a:xfrm>
            <a:off x="749808" y="1508760"/>
            <a:ext cx="10149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550" b="1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ProofPay là một use case tự nhiên cho Rialo: real-world proof, payment workflow, privacy-aware verification và settlement có thể tự động hóa.</a:t>
            </a:r>
            <a:endParaRPr lang="en-US" sz="1550" dirty="0">
              <a:solidFill>
                <a:srgbClr val="E2E8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demo box"/>
          <p:cNvSpPr/>
          <p:nvPr/>
        </p:nvSpPr>
        <p:spPr>
          <a:xfrm>
            <a:off x="749808" y="2816352"/>
            <a:ext cx="521208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7" name="demo title"/>
          <p:cNvSpPr txBox="1"/>
          <p:nvPr/>
        </p:nvSpPr>
        <p:spPr>
          <a:xfrm>
            <a:off x="960120" y="301752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2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5 phút</a:t>
            </a:r>
            <a:endParaRPr lang="en-US" sz="12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demo body"/>
          <p:cNvSpPr txBox="1"/>
          <p:nvPr/>
        </p:nvSpPr>
        <p:spPr>
          <a:xfrm>
            <a:off x="960120" y="3456432"/>
            <a:ext cx="470916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1. Connect wallet + faucet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2. Create GitHub escrow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3. Fund RIALO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4. Verify PR proof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5. Release hoặc refund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ource box"/>
          <p:cNvSpPr/>
          <p:nvPr/>
        </p:nvSpPr>
        <p:spPr>
          <a:xfrm>
            <a:off x="6327648" y="2816352"/>
            <a:ext cx="507492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10" name="source title"/>
          <p:cNvSpPr txBox="1"/>
          <p:nvPr/>
        </p:nvSpPr>
        <p:spPr>
          <a:xfrm>
            <a:off x="6528816" y="301752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2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Nguồn tham chiếu</a:t>
            </a:r>
            <a:endParaRPr lang="en-US" sz="12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ource body"/>
          <p:cNvSpPr txBox="1"/>
          <p:nvPr/>
        </p:nvSpPr>
        <p:spPr>
          <a:xfrm>
            <a:off x="6528816" y="3456432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learn.rialo.io/tutorials/reactive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learn.rialo.io/tutorials/async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rialo.io/for-devs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 README and ProofPay DApp Explainer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footer"/>
          <p:cNvSpPr txBox="1"/>
          <p:nvPr/>
        </p:nvSpPr>
        <p:spPr>
          <a:xfrm>
            <a:off x="749808" y="605332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ProofPay on Rialo  |  14/14</a:t>
            </a:r>
            <a:endParaRPr lang="en-US" sz="900" dirty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ofPay Report Theme">
  <a:themeElements>
    <a:clrScheme name="ProofPay">
      <a:dk1>
        <a:sysClr val="windowText" lastClr="000000"/>
      </a:dk1>
      <a:lt1>
        <a:sysClr val="window" lastClr="FFFFFF"/>
      </a:lt1>
      <a:dk2>
        <a:srgbClr val="101828"/>
      </a:dk2>
      <a:lt2>
        <a:srgbClr val="F8FAFC"/>
      </a:lt2>
      <a:accent1>
        <a:srgbClr val="0F766E"/>
      </a:accent1>
      <a:accent2>
        <a:srgbClr val="2563EB"/>
      </a:accent2>
      <a:accent3>
        <a:srgbClr val="16A34A"/>
      </a:accent3>
      <a:accent4>
        <a:srgbClr val="EA580C"/>
      </a:accent4>
      <a:accent5>
        <a:srgbClr val="7C3AED"/>
      </a:accent5>
      <a:accent6>
        <a:srgbClr val="D9770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roofPa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ProofPay Pitch Builder</Application>
  <PresentationFormat>Widescreen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ProofPay on Rialo</vt:lpstr>
      <vt:lpstr>Tóm tắt điều hành</vt:lpstr>
      <vt:lpstr>Vấn đề cần giải quyết</vt:lpstr>
      <vt:lpstr>Ý tưởng sản phẩm</vt:lpstr>
      <vt:lpstr>ProofPay tận dụng Rialo như thế nào</vt:lpstr>
      <vt:lpstr>Dự án đang dùng Rialo ở mức nào</vt:lpstr>
      <vt:lpstr>Lợi thế công nghệ Rialo</vt:lpstr>
      <vt:lpstr>Kiến trúc hiện tại và đường nâng cấp</vt:lpstr>
      <vt:lpstr>Prototype chứng minh được gì</vt:lpstr>
      <vt:lpstr>Điểm mạnh của dự án</vt:lpstr>
      <vt:lpstr>Private repo: quyền truy cập và verifier</vt:lpstr>
      <vt:lpstr>Hiệu quả và use case</vt:lpstr>
      <vt:lpstr>Roadmap production</vt:lpstr>
      <vt:lpstr>Kết luận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ProofPay on Rialo - Bao cao tieng Viet</dc:title>
  <dc:subject>ProofPay Rialo project report</dc:subject>
  <dc:creator>OpenAI Codex</dc:creator>
  <cp:keywords>ProofPay,Rialo,escrow,Web3,presentation</cp:keywords>
  <dc:description>Project report deck for ProofPay on Rialo.</dc:description>
  <cp:lastModifiedBy>OpenAI Codex</cp:lastModifiedBy>
  <dcterms:created xsi:type="dcterms:W3CDTF">2026-06-09T10:51:59Z</dcterms:created>
  <dcterms:modified xsi:type="dcterms:W3CDTF">2026-06-09T10:51:59Z</dcterms:modified>
</cp:coreProperties>
</file>