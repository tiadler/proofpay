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1999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12191999" cy="6858000"/>
          <a:chOff x="0" y="0"/>
          <a:chExt cx="12191999" cy="685800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spTree>
      <p:nvGrpSpPr>
        <p:cNvPr id="1" name=""/>
        <p:cNvGrpSpPr/>
        <p:nvPr/>
      </p:nvGrpSpPr>
      <p:grpSpPr>
        <a:xfrm>
          <a:off x="0" y="0"/>
          <a:ext cx="12191999" cy="6858000"/>
          <a:chOff x="0" y="0"/>
          <a:chExt cx="12191999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extStyles>
    <p:titleStyle>
      <a:lvl1pPr algn="ctr"/>
    </p:titleStyle>
    <p:bodyStyle>
      <a:lvl1pPr/>
    </p:bodyStyle>
    <p:otherStyle>
      <a:lvl1pPr/>
    </p:otherStyle>
  </p:text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ofPay on Rialo">
    <p:spTree>
      <p:nvGrpSpPr>
        <p:cNvPr id="1" name=""/>
        <p:cNvGrpSpPr/>
        <p:nvPr/>
      </p:nvGrpSpPr>
      <p:grpSpPr>
        <a:xfrm>
          <a:off x="0" y="0"/>
          <a:ext cx="12191999" cy="6858000"/>
          <a:chOff x="0" y="0"/>
          <a:chExt cx="12191999" cy="685800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left stripe"/>
          <p:cNvSpPr/>
          <p:nvPr/>
        </p:nvSpPr>
        <p:spPr>
          <a:xfrm>
            <a:off x="0" y="0"/>
            <a:ext cx="219456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4" name="brand"/>
          <p:cNvSpPr txBox="1"/>
          <p:nvPr/>
        </p:nvSpPr>
        <p:spPr>
          <a:xfrm>
            <a:off x="685800" y="530352"/>
            <a:ext cx="47548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950" b="1" dirty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PROOFPAY / RIALO</a:t>
            </a:r>
            <a:endParaRPr lang="en-US" sz="950" dirty="0">
              <a:solidFill>
                <a:srgbClr val="CBD5E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title"/>
          <p:cNvSpPr txBox="1"/>
          <p:nvPr/>
        </p:nvSpPr>
        <p:spPr>
          <a:xfrm>
            <a:off x="658368" y="1371600"/>
            <a:ext cx="10332720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4100" b="1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ProofPay on Rialo</a:t>
            </a:r>
            <a:endParaRPr lang="en-US" sz="4100" dirty="0">
              <a:solidFill>
                <a:srgbClr val="FFFF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subtitle"/>
          <p:cNvSpPr txBox="1"/>
          <p:nvPr/>
        </p:nvSpPr>
        <p:spPr>
          <a:xfrm>
            <a:off x="694944" y="2514600"/>
            <a:ext cx="9692640" cy="7498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650" b="0" dirty="0">
                <a:solidFill>
                  <a:srgbClr val="E2E8F0"/>
                </a:solidFill>
                <a:latin typeface="Aptos"/>
                <a:ea typeface="Aptos"/>
                <a:cs typeface="Aptos"/>
              </a:rPr>
              <a:t>Proof-based escrow for conditional Web3 payments</a:t>
            </a:r>
            <a:endParaRPr lang="en-US" sz="1650" dirty="0">
              <a:solidFill>
                <a:srgbClr val="E2E8F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7" name="statement line"/>
          <p:cNvSpPr/>
          <p:nvPr/>
        </p:nvSpPr>
        <p:spPr>
          <a:xfrm>
            <a:off x="713232" y="4224528"/>
            <a:ext cx="4754880" cy="9144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8" name="statement"/>
          <p:cNvSpPr txBox="1"/>
          <p:nvPr/>
        </p:nvSpPr>
        <p:spPr>
          <a:xfrm>
            <a:off x="694944" y="4443984"/>
            <a:ext cx="8961120" cy="6949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500" b="0" dirty="0">
                <a:solidFill>
                  <a:srgbClr val="F8FAFC"/>
                </a:solidFill>
                <a:latin typeface="Aptos"/>
                <a:ea typeface="Aptos"/>
                <a:cs typeface="Aptos"/>
              </a:rPr>
              <a:t>Lock funds first, verify evidence later, then release or refund through an auditable rule.</a:t>
            </a:r>
            <a:endParaRPr lang="en-US" sz="1500" dirty="0">
              <a:solidFill>
                <a:srgbClr val="F8FAFC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meta"/>
          <p:cNvSpPr txBox="1"/>
          <p:nvPr/>
        </p:nvSpPr>
        <p:spPr>
          <a:xfrm>
            <a:off x="694944" y="5961888"/>
            <a:ext cx="91440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900" b="0" dirty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Project report  |  1/14</a:t>
            </a:r>
            <a:endParaRPr lang="en-US" sz="900" dirty="0">
              <a:solidFill>
                <a:srgbClr val="94A3B8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xecutive Summary">
    <p:spTree>
      <p:nvGrpSpPr>
        <p:cNvPr id="1" name=""/>
        <p:cNvGrpSpPr/>
        <p:nvPr/>
      </p:nvGrpSpPr>
      <p:grpSpPr>
        <a:xfrm>
          <a:off x="0" y="0"/>
          <a:ext cx="12191999" cy="6858000"/>
          <a:chOff x="0" y="0"/>
          <a:chExt cx="12191999" cy="685800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4" name="kicker"/>
          <p:cNvSpPr txBox="1"/>
          <p:nvPr/>
        </p:nvSpPr>
        <p:spPr>
          <a:xfrm>
            <a:off x="676656" y="34747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900" b="1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OVERVIEW</a:t>
            </a:r>
            <a:endParaRPr lang="en-US" sz="90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title"/>
          <p:cNvSpPr txBox="1"/>
          <p:nvPr/>
        </p:nvSpPr>
        <p:spPr>
          <a:xfrm>
            <a:off x="658368" y="621792"/>
            <a:ext cx="905256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2700" b="1" dirty="0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Executive Summary</a:t>
            </a:r>
            <a:endParaRPr lang="en-US" sz="2700" dirty="0">
              <a:solidFill>
                <a:srgbClr val="10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number block"/>
          <p:cNvSpPr/>
          <p:nvPr/>
        </p:nvSpPr>
        <p:spPr>
          <a:xfrm>
            <a:off x="10652760" y="347472"/>
            <a:ext cx="749808" cy="384048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7" name="number"/>
          <p:cNvSpPr txBox="1"/>
          <p:nvPr/>
        </p:nvSpPr>
        <p:spPr>
          <a:xfrm>
            <a:off x="10698480" y="411480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0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  <a:endParaRPr lang="en-US" sz="105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hero statement"/>
          <p:cNvSpPr/>
          <p:nvPr/>
        </p:nvSpPr>
        <p:spPr>
          <a:xfrm>
            <a:off x="713232" y="1481328"/>
            <a:ext cx="10771632" cy="105156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9" name="statement"/>
          <p:cNvSpPr txBox="1"/>
          <p:nvPr/>
        </p:nvSpPr>
        <p:spPr>
          <a:xfrm>
            <a:off x="914400" y="1700784"/>
            <a:ext cx="10287000" cy="51206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7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ProofPay turns freelancer, bounty, and milestone payments into conditional workflows instead of one-way token transfers.</a:t>
            </a:r>
            <a:endParaRPr lang="en-US" sz="175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card Trust before work"/>
          <p:cNvSpPr/>
          <p:nvPr/>
        </p:nvSpPr>
        <p:spPr>
          <a:xfrm>
            <a:off x="713232" y="2907792"/>
            <a:ext cx="2322576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11" name="card accent Trust before work"/>
          <p:cNvSpPr/>
          <p:nvPr/>
        </p:nvSpPr>
        <p:spPr>
          <a:xfrm>
            <a:off x="713232" y="2907792"/>
            <a:ext cx="73152" cy="228600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12" name="card title Trust before work"/>
          <p:cNvSpPr txBox="1"/>
          <p:nvPr/>
        </p:nvSpPr>
        <p:spPr>
          <a:xfrm>
            <a:off x="859536" y="3054096"/>
            <a:ext cx="2066543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Trust before work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card body Trust before work"/>
          <p:cNvSpPr txBox="1"/>
          <p:nvPr/>
        </p:nvSpPr>
        <p:spPr>
          <a:xfrm>
            <a:off x="859536" y="3410712"/>
            <a:ext cx="2066543" cy="171907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The payer funds escrow so the payee can see committed capital.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card Proof over promises"/>
          <p:cNvSpPr/>
          <p:nvPr/>
        </p:nvSpPr>
        <p:spPr>
          <a:xfrm>
            <a:off x="3529584" y="2907792"/>
            <a:ext cx="2322576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15" name="card accent Proof over promises"/>
          <p:cNvSpPr/>
          <p:nvPr/>
        </p:nvSpPr>
        <p:spPr>
          <a:xfrm>
            <a:off x="3529584" y="2907792"/>
            <a:ext cx="73152" cy="228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6" name="card title Proof over promises"/>
          <p:cNvSpPr txBox="1"/>
          <p:nvPr/>
        </p:nvSpPr>
        <p:spPr>
          <a:xfrm>
            <a:off x="3675887" y="3054096"/>
            <a:ext cx="2066543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Proof over promises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card body Proof over promises"/>
          <p:cNvSpPr txBox="1"/>
          <p:nvPr/>
        </p:nvSpPr>
        <p:spPr>
          <a:xfrm>
            <a:off x="3675887" y="3410712"/>
            <a:ext cx="2066543" cy="171907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Merged PRs, deadlines, and authors become payment conditions.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card Rule-based settlement"/>
          <p:cNvSpPr/>
          <p:nvPr/>
        </p:nvSpPr>
        <p:spPr>
          <a:xfrm>
            <a:off x="6345936" y="2907792"/>
            <a:ext cx="2322576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19" name="card accent Rule-based settlement"/>
          <p:cNvSpPr/>
          <p:nvPr/>
        </p:nvSpPr>
        <p:spPr>
          <a:xfrm>
            <a:off x="6345936" y="2907792"/>
            <a:ext cx="73152" cy="228600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20" name="card title Rule-based settlement"/>
          <p:cNvSpPr txBox="1"/>
          <p:nvPr/>
        </p:nvSpPr>
        <p:spPr>
          <a:xfrm>
            <a:off x="6492240" y="3054096"/>
            <a:ext cx="2066543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Rule-based settlement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card body Rule-based settlement"/>
          <p:cNvSpPr txBox="1"/>
          <p:nvPr/>
        </p:nvSpPr>
        <p:spPr>
          <a:xfrm>
            <a:off x="6492240" y="3410712"/>
            <a:ext cx="2066543" cy="171907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Verified means release; failed or expired means refund or dispute.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card Strong Rialo fit"/>
          <p:cNvSpPr/>
          <p:nvPr/>
        </p:nvSpPr>
        <p:spPr>
          <a:xfrm>
            <a:off x="9162288" y="2907792"/>
            <a:ext cx="2322576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23" name="card accent Strong Rialo fit"/>
          <p:cNvSpPr/>
          <p:nvPr/>
        </p:nvSpPr>
        <p:spPr>
          <a:xfrm>
            <a:off x="9162288" y="2907792"/>
            <a:ext cx="73152" cy="2286000"/>
          </a:xfrm>
          <a:prstGeom prst="rect">
            <a:avLst/>
          </a:prstGeom>
          <a:solidFill>
            <a:srgbClr val="EA580C"/>
          </a:solidFill>
          <a:ln>
            <a:noFill/>
          </a:ln>
        </p:spPr>
      </p:sp>
      <p:sp>
        <p:nvSpPr>
          <p:cNvPr id="24" name="card title Strong Rialo fit"/>
          <p:cNvSpPr txBox="1"/>
          <p:nvPr/>
        </p:nvSpPr>
        <p:spPr>
          <a:xfrm>
            <a:off x="9308592" y="3054096"/>
            <a:ext cx="2066543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Strong Rialo fit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card body Strong Rialo fit"/>
          <p:cNvSpPr txBox="1"/>
          <p:nvPr/>
        </p:nvSpPr>
        <p:spPr>
          <a:xfrm>
            <a:off x="9308592" y="3410712"/>
            <a:ext cx="2066543" cy="171907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Reactive, async, workflow, and Edge primitives align with this model.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footer"/>
          <p:cNvSpPr txBox="1"/>
          <p:nvPr/>
        </p:nvSpPr>
        <p:spPr>
          <a:xfrm>
            <a:off x="658368" y="6291072"/>
            <a:ext cx="77724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8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ProofPay report  |  2/14</a:t>
            </a:r>
            <a:endParaRPr lang="en-US" sz="8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Problem">
    <p:spTree>
      <p:nvGrpSpPr>
        <p:cNvPr id="1" name=""/>
        <p:cNvGrpSpPr/>
        <p:nvPr/>
      </p:nvGrpSpPr>
      <p:grpSpPr>
        <a:xfrm>
          <a:off x="0" y="0"/>
          <a:ext cx="12191999" cy="6858000"/>
          <a:chOff x="0" y="0"/>
          <a:chExt cx="12191999" cy="685800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4" name="kicker"/>
          <p:cNvSpPr txBox="1"/>
          <p:nvPr/>
        </p:nvSpPr>
        <p:spPr>
          <a:xfrm>
            <a:off x="676656" y="34747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900" b="1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TRUST GAP</a:t>
            </a:r>
            <a:endParaRPr lang="en-US" sz="90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title"/>
          <p:cNvSpPr txBox="1"/>
          <p:nvPr/>
        </p:nvSpPr>
        <p:spPr>
          <a:xfrm>
            <a:off x="658368" y="621792"/>
            <a:ext cx="905256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2700" b="1" dirty="0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The Problem</a:t>
            </a:r>
            <a:endParaRPr lang="en-US" sz="2700" dirty="0">
              <a:solidFill>
                <a:srgbClr val="10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number block"/>
          <p:cNvSpPr/>
          <p:nvPr/>
        </p:nvSpPr>
        <p:spPr>
          <a:xfrm>
            <a:off x="10652760" y="347472"/>
            <a:ext cx="749808" cy="384048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7" name="number"/>
          <p:cNvSpPr txBox="1"/>
          <p:nvPr/>
        </p:nvSpPr>
        <p:spPr>
          <a:xfrm>
            <a:off x="10698480" y="411480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0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  <a:endParaRPr lang="en-US" sz="105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card Clients resist prepayment"/>
          <p:cNvSpPr/>
          <p:nvPr/>
        </p:nvSpPr>
        <p:spPr>
          <a:xfrm>
            <a:off x="713232" y="1508760"/>
            <a:ext cx="30175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9" name="card accent Clients resist prepayment"/>
          <p:cNvSpPr/>
          <p:nvPr/>
        </p:nvSpPr>
        <p:spPr>
          <a:xfrm>
            <a:off x="713232" y="1508760"/>
            <a:ext cx="73152" cy="164592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0" name="card title Clients resist prepayment"/>
          <p:cNvSpPr txBox="1"/>
          <p:nvPr/>
        </p:nvSpPr>
        <p:spPr>
          <a:xfrm>
            <a:off x="859536" y="1655063"/>
            <a:ext cx="2761487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Clients resist prepayment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card body Clients resist prepayment"/>
          <p:cNvSpPr txBox="1"/>
          <p:nvPr/>
        </p:nvSpPr>
        <p:spPr>
          <a:xfrm>
            <a:off x="859536" y="2011680"/>
            <a:ext cx="2761487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They risk paying before the work is delivered.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card Developers fear non-payment"/>
          <p:cNvSpPr/>
          <p:nvPr/>
        </p:nvSpPr>
        <p:spPr>
          <a:xfrm>
            <a:off x="4133087" y="1508760"/>
            <a:ext cx="30175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13" name="card accent Developers fear non-payment"/>
          <p:cNvSpPr/>
          <p:nvPr/>
        </p:nvSpPr>
        <p:spPr>
          <a:xfrm>
            <a:off x="4133087" y="1508760"/>
            <a:ext cx="73152" cy="1645920"/>
          </a:xfrm>
          <a:prstGeom prst="rect">
            <a:avLst/>
          </a:prstGeom>
          <a:solidFill>
            <a:srgbClr val="EA580C"/>
          </a:solidFill>
          <a:ln>
            <a:noFill/>
          </a:ln>
        </p:spPr>
      </p:sp>
      <p:sp>
        <p:nvSpPr>
          <p:cNvPr id="14" name="card title Developers fear non-payment"/>
          <p:cNvSpPr txBox="1"/>
          <p:nvPr/>
        </p:nvSpPr>
        <p:spPr>
          <a:xfrm>
            <a:off x="4279392" y="1655063"/>
            <a:ext cx="2761487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Developers fear non-payment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card body Developers fear non-payment"/>
          <p:cNvSpPr txBox="1"/>
          <p:nvPr/>
        </p:nvSpPr>
        <p:spPr>
          <a:xfrm>
            <a:off x="4279392" y="2011680"/>
            <a:ext cx="2761487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Doing the work first creates cashflow and dispute risk.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card Token transfers are too simple"/>
          <p:cNvSpPr/>
          <p:nvPr/>
        </p:nvSpPr>
        <p:spPr>
          <a:xfrm>
            <a:off x="7552944" y="1508760"/>
            <a:ext cx="30175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17" name="card accent Token transfers are too simple"/>
          <p:cNvSpPr/>
          <p:nvPr/>
        </p:nvSpPr>
        <p:spPr>
          <a:xfrm>
            <a:off x="7552944" y="1508760"/>
            <a:ext cx="73152" cy="164592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18" name="card title Token transfers are too simple"/>
          <p:cNvSpPr txBox="1"/>
          <p:nvPr/>
        </p:nvSpPr>
        <p:spPr>
          <a:xfrm>
            <a:off x="7699248" y="1655063"/>
            <a:ext cx="2761487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Token transfers are too simple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card body Token transfers are too simple"/>
          <p:cNvSpPr txBox="1"/>
          <p:nvPr/>
        </p:nvSpPr>
        <p:spPr>
          <a:xfrm>
            <a:off x="7699248" y="2011680"/>
            <a:ext cx="2761487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A transfer does not encode the work condition.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card Centralized escrow is slow"/>
          <p:cNvSpPr/>
          <p:nvPr/>
        </p:nvSpPr>
        <p:spPr>
          <a:xfrm>
            <a:off x="713232" y="3803904"/>
            <a:ext cx="30175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21" name="card accent Centralized escrow is slow"/>
          <p:cNvSpPr/>
          <p:nvPr/>
        </p:nvSpPr>
        <p:spPr>
          <a:xfrm>
            <a:off x="713232" y="3803904"/>
            <a:ext cx="73152" cy="164592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2" name="card title Centralized escrow is slow"/>
          <p:cNvSpPr txBox="1"/>
          <p:nvPr/>
        </p:nvSpPr>
        <p:spPr>
          <a:xfrm>
            <a:off x="859536" y="3950208"/>
            <a:ext cx="2761487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Centralized escrow is slow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card body Centralized escrow is slow"/>
          <p:cNvSpPr txBox="1"/>
          <p:nvPr/>
        </p:nvSpPr>
        <p:spPr>
          <a:xfrm>
            <a:off x="859536" y="4306824"/>
            <a:ext cx="2761487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Third-party custody adds manual operations and fees.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card Private repos are sensitive"/>
          <p:cNvSpPr/>
          <p:nvPr/>
        </p:nvSpPr>
        <p:spPr>
          <a:xfrm>
            <a:off x="4133087" y="3803904"/>
            <a:ext cx="30175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25" name="card accent Private repos are sensitive"/>
          <p:cNvSpPr/>
          <p:nvPr/>
        </p:nvSpPr>
        <p:spPr>
          <a:xfrm>
            <a:off x="4133087" y="3803904"/>
            <a:ext cx="73152" cy="164592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6" name="card title Private repos are sensitive"/>
          <p:cNvSpPr txBox="1"/>
          <p:nvPr/>
        </p:nvSpPr>
        <p:spPr>
          <a:xfrm>
            <a:off x="4279392" y="3950208"/>
            <a:ext cx="2761487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Private repos are sensitive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card body Private repos are sensitive"/>
          <p:cNvSpPr txBox="1"/>
          <p:nvPr/>
        </p:nvSpPr>
        <p:spPr>
          <a:xfrm>
            <a:off x="4279392" y="4306824"/>
            <a:ext cx="2761487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Teams cannot expose source code just to prove delivery.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card Audit trails are weak"/>
          <p:cNvSpPr/>
          <p:nvPr/>
        </p:nvSpPr>
        <p:spPr>
          <a:xfrm>
            <a:off x="7552944" y="3803904"/>
            <a:ext cx="30175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29" name="card accent Audit trails are weak"/>
          <p:cNvSpPr/>
          <p:nvPr/>
        </p:nvSpPr>
        <p:spPr>
          <a:xfrm>
            <a:off x="7552944" y="3803904"/>
            <a:ext cx="73152" cy="164592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30" name="card title Audit trails are weak"/>
          <p:cNvSpPr txBox="1"/>
          <p:nvPr/>
        </p:nvSpPr>
        <p:spPr>
          <a:xfrm>
            <a:off x="7699248" y="3950208"/>
            <a:ext cx="2761487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Audit trails are weak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card body Audit trails are weak"/>
          <p:cNvSpPr txBox="1"/>
          <p:nvPr/>
        </p:nvSpPr>
        <p:spPr>
          <a:xfrm>
            <a:off x="7699248" y="4306824"/>
            <a:ext cx="2761487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Funding, verification, release, and refund need clear evidence.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2" name="footer"/>
          <p:cNvSpPr txBox="1"/>
          <p:nvPr/>
        </p:nvSpPr>
        <p:spPr>
          <a:xfrm>
            <a:off x="658368" y="6291072"/>
            <a:ext cx="77724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8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Online work needs conditional settlement  |  3/14</a:t>
            </a:r>
            <a:endParaRPr lang="en-US" sz="8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duct Concept">
    <p:spTree>
      <p:nvGrpSpPr>
        <p:cNvPr id="1" name=""/>
        <p:cNvGrpSpPr/>
        <p:nvPr/>
      </p:nvGrpSpPr>
      <p:grpSpPr>
        <a:xfrm>
          <a:off x="0" y="0"/>
          <a:ext cx="12191999" cy="6858000"/>
          <a:chOff x="0" y="0"/>
          <a:chExt cx="12191999" cy="685800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kicker"/>
          <p:cNvSpPr txBox="1"/>
          <p:nvPr/>
        </p:nvSpPr>
        <p:spPr>
          <a:xfrm>
            <a:off x="676656" y="34747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900" b="1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PROOF-BASED ESCROW</a:t>
            </a:r>
            <a:endParaRPr lang="en-US" sz="90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title"/>
          <p:cNvSpPr txBox="1"/>
          <p:nvPr/>
        </p:nvSpPr>
        <p:spPr>
          <a:xfrm>
            <a:off x="658368" y="621792"/>
            <a:ext cx="905256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2700" b="1" dirty="0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Product Concept</a:t>
            </a:r>
            <a:endParaRPr lang="en-US" sz="2700" dirty="0">
              <a:solidFill>
                <a:srgbClr val="10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number block"/>
          <p:cNvSpPr/>
          <p:nvPr/>
        </p:nvSpPr>
        <p:spPr>
          <a:xfrm>
            <a:off x="10652760" y="347472"/>
            <a:ext cx="749808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7" name="number"/>
          <p:cNvSpPr txBox="1"/>
          <p:nvPr/>
        </p:nvSpPr>
        <p:spPr>
          <a:xfrm>
            <a:off x="10698480" y="411480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0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  <a:endParaRPr lang="en-US" sz="105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step 1"/>
          <p:cNvSpPr/>
          <p:nvPr/>
        </p:nvSpPr>
        <p:spPr>
          <a:xfrm>
            <a:off x="685800" y="1874519"/>
            <a:ext cx="1572768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9" name="step bar 1"/>
          <p:cNvSpPr/>
          <p:nvPr/>
        </p:nvSpPr>
        <p:spPr>
          <a:xfrm>
            <a:off x="685800" y="1874519"/>
            <a:ext cx="1572768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0" name="step title 1"/>
          <p:cNvSpPr txBox="1"/>
          <p:nvPr/>
        </p:nvSpPr>
        <p:spPr>
          <a:xfrm>
            <a:off x="777240" y="2157984"/>
            <a:ext cx="1389888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0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Create</a:t>
            </a:r>
            <a:endParaRPr lang="en-US" sz="10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step body 1"/>
          <p:cNvSpPr txBox="1"/>
          <p:nvPr/>
        </p:nvSpPr>
        <p:spPr>
          <a:xfrm>
            <a:off x="795528" y="2532887"/>
            <a:ext cx="1353312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78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Deal + rule</a:t>
            </a:r>
            <a:endParaRPr lang="en-US" sz="78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arrow 1"/>
          <p:cNvSpPr txBox="1"/>
          <p:nvPr/>
        </p:nvSpPr>
        <p:spPr>
          <a:xfrm>
            <a:off x="2331720" y="2331720"/>
            <a:ext cx="32918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200" b="1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-&gt;</a:t>
            </a:r>
            <a:endParaRPr lang="en-US" sz="120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step 2"/>
          <p:cNvSpPr/>
          <p:nvPr/>
        </p:nvSpPr>
        <p:spPr>
          <a:xfrm>
            <a:off x="2578608" y="1874519"/>
            <a:ext cx="1572768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14" name="step bar 2"/>
          <p:cNvSpPr/>
          <p:nvPr/>
        </p:nvSpPr>
        <p:spPr>
          <a:xfrm>
            <a:off x="2578608" y="1874519"/>
            <a:ext cx="1572768" cy="146304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15" name="step title 2"/>
          <p:cNvSpPr txBox="1"/>
          <p:nvPr/>
        </p:nvSpPr>
        <p:spPr>
          <a:xfrm>
            <a:off x="2670048" y="2157984"/>
            <a:ext cx="1389888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0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Fund</a:t>
            </a:r>
            <a:endParaRPr lang="en-US" sz="10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step body 2"/>
          <p:cNvSpPr txBox="1"/>
          <p:nvPr/>
        </p:nvSpPr>
        <p:spPr>
          <a:xfrm>
            <a:off x="2688336" y="2532887"/>
            <a:ext cx="1353312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78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Lock RIALO</a:t>
            </a:r>
            <a:endParaRPr lang="en-US" sz="78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arrow 2"/>
          <p:cNvSpPr txBox="1"/>
          <p:nvPr/>
        </p:nvSpPr>
        <p:spPr>
          <a:xfrm>
            <a:off x="4224528" y="2331720"/>
            <a:ext cx="32918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200" b="1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-&gt;</a:t>
            </a:r>
            <a:endParaRPr lang="en-US" sz="120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step 3"/>
          <p:cNvSpPr/>
          <p:nvPr/>
        </p:nvSpPr>
        <p:spPr>
          <a:xfrm>
            <a:off x="4471416" y="1874519"/>
            <a:ext cx="1572768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19" name="step bar 3"/>
          <p:cNvSpPr/>
          <p:nvPr/>
        </p:nvSpPr>
        <p:spPr>
          <a:xfrm>
            <a:off x="4471416" y="1874519"/>
            <a:ext cx="1572768" cy="146304"/>
          </a:xfrm>
          <a:prstGeom prst="rect">
            <a:avLst/>
          </a:prstGeom>
          <a:solidFill>
            <a:srgbClr val="EA580C"/>
          </a:solidFill>
          <a:ln>
            <a:noFill/>
          </a:ln>
        </p:spPr>
      </p:sp>
      <p:sp>
        <p:nvSpPr>
          <p:cNvPr id="20" name="step title 3"/>
          <p:cNvSpPr txBox="1"/>
          <p:nvPr/>
        </p:nvSpPr>
        <p:spPr>
          <a:xfrm>
            <a:off x="4562855" y="2157984"/>
            <a:ext cx="1389888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0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Verify</a:t>
            </a:r>
            <a:endParaRPr lang="en-US" sz="10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step body 3"/>
          <p:cNvSpPr txBox="1"/>
          <p:nvPr/>
        </p:nvSpPr>
        <p:spPr>
          <a:xfrm>
            <a:off x="4581144" y="2532887"/>
            <a:ext cx="1353312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78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Check proof</a:t>
            </a:r>
            <a:endParaRPr lang="en-US" sz="78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arrow 3"/>
          <p:cNvSpPr txBox="1"/>
          <p:nvPr/>
        </p:nvSpPr>
        <p:spPr>
          <a:xfrm>
            <a:off x="6117336" y="2331720"/>
            <a:ext cx="32918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200" b="1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-&gt;</a:t>
            </a:r>
            <a:endParaRPr lang="en-US" sz="120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step 4"/>
          <p:cNvSpPr/>
          <p:nvPr/>
        </p:nvSpPr>
        <p:spPr>
          <a:xfrm>
            <a:off x="6364223" y="1874519"/>
            <a:ext cx="1572768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24" name="step bar 4"/>
          <p:cNvSpPr/>
          <p:nvPr/>
        </p:nvSpPr>
        <p:spPr>
          <a:xfrm>
            <a:off x="6364223" y="1874519"/>
            <a:ext cx="1572768" cy="146304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5" name="step title 4"/>
          <p:cNvSpPr txBox="1"/>
          <p:nvPr/>
        </p:nvSpPr>
        <p:spPr>
          <a:xfrm>
            <a:off x="6455663" y="2157984"/>
            <a:ext cx="1389888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0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Anchor</a:t>
            </a:r>
            <a:endParaRPr lang="en-US" sz="10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step body 4"/>
          <p:cNvSpPr txBox="1"/>
          <p:nvPr/>
        </p:nvSpPr>
        <p:spPr>
          <a:xfrm>
            <a:off x="6473951" y="2532887"/>
            <a:ext cx="1353312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78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Proof hash</a:t>
            </a:r>
            <a:endParaRPr lang="en-US" sz="78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arrow 4"/>
          <p:cNvSpPr txBox="1"/>
          <p:nvPr/>
        </p:nvSpPr>
        <p:spPr>
          <a:xfrm>
            <a:off x="8010144" y="2331720"/>
            <a:ext cx="32918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200" b="1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-&gt;</a:t>
            </a:r>
            <a:endParaRPr lang="en-US" sz="120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step 5"/>
          <p:cNvSpPr/>
          <p:nvPr/>
        </p:nvSpPr>
        <p:spPr>
          <a:xfrm>
            <a:off x="8257031" y="1874519"/>
            <a:ext cx="1572768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29" name="step bar 5"/>
          <p:cNvSpPr/>
          <p:nvPr/>
        </p:nvSpPr>
        <p:spPr>
          <a:xfrm>
            <a:off x="8257031" y="1874519"/>
            <a:ext cx="1572768" cy="146304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30" name="step title 5"/>
          <p:cNvSpPr txBox="1"/>
          <p:nvPr/>
        </p:nvSpPr>
        <p:spPr>
          <a:xfrm>
            <a:off x="8348471" y="2157984"/>
            <a:ext cx="1389888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0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Settle</a:t>
            </a:r>
            <a:endParaRPr lang="en-US" sz="10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step body 5"/>
          <p:cNvSpPr txBox="1"/>
          <p:nvPr/>
        </p:nvSpPr>
        <p:spPr>
          <a:xfrm>
            <a:off x="8366759" y="2532887"/>
            <a:ext cx="1353312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78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Release / refund</a:t>
            </a:r>
            <a:endParaRPr lang="en-US" sz="78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2" name="arrow 5"/>
          <p:cNvSpPr txBox="1"/>
          <p:nvPr/>
        </p:nvSpPr>
        <p:spPr>
          <a:xfrm>
            <a:off x="9902952" y="2331720"/>
            <a:ext cx="32918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200" b="1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-&gt;</a:t>
            </a:r>
            <a:endParaRPr lang="en-US" sz="120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3" name="step 6"/>
          <p:cNvSpPr/>
          <p:nvPr/>
        </p:nvSpPr>
        <p:spPr>
          <a:xfrm>
            <a:off x="10149840" y="1874519"/>
            <a:ext cx="1572768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34" name="step bar 6"/>
          <p:cNvSpPr/>
          <p:nvPr/>
        </p:nvSpPr>
        <p:spPr>
          <a:xfrm>
            <a:off x="10149840" y="1874519"/>
            <a:ext cx="1572768" cy="146304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35" name="step title 6"/>
          <p:cNvSpPr txBox="1"/>
          <p:nvPr/>
        </p:nvSpPr>
        <p:spPr>
          <a:xfrm>
            <a:off x="10241280" y="2157984"/>
            <a:ext cx="1389888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0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Audit</a:t>
            </a:r>
            <a:endParaRPr lang="en-US" sz="10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6" name="step body 6"/>
          <p:cNvSpPr txBox="1"/>
          <p:nvPr/>
        </p:nvSpPr>
        <p:spPr>
          <a:xfrm>
            <a:off x="10259567" y="2532887"/>
            <a:ext cx="1353312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78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Events + tx</a:t>
            </a:r>
            <a:endParaRPr lang="en-US" sz="78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7" name="note"/>
          <p:cNvSpPr/>
          <p:nvPr/>
        </p:nvSpPr>
        <p:spPr>
          <a:xfrm>
            <a:off x="914400" y="4251960"/>
            <a:ext cx="10058400" cy="822960"/>
          </a:xfrm>
          <a:prstGeom prst="rect">
            <a:avLst/>
          </a:prstGeom>
          <a:solidFill>
            <a:srgbClr val="ECFDF3"/>
          </a:solidFill>
          <a:ln w="9525">
            <a:solidFill>
              <a:srgbClr val="ABEFC6"/>
            </a:solidFill>
          </a:ln>
        </p:spPr>
      </p:sp>
      <p:sp>
        <p:nvSpPr>
          <p:cNvPr id="38" name="note text"/>
          <p:cNvSpPr txBox="1"/>
          <p:nvPr/>
        </p:nvSpPr>
        <p:spPr>
          <a:xfrm>
            <a:off x="1051560" y="4443984"/>
            <a:ext cx="97383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30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Simple demo line: pay 100 RIALO if GitHub PR #42 is merged before the deadline.</a:t>
            </a:r>
            <a:endParaRPr lang="en-US" sz="130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9" name="footer"/>
          <p:cNvSpPr txBox="1"/>
          <p:nvPr/>
        </p:nvSpPr>
        <p:spPr>
          <a:xfrm>
            <a:off x="658368" y="6291072"/>
            <a:ext cx="77724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8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Core flow  |  4/14</a:t>
            </a:r>
            <a:endParaRPr lang="en-US" sz="8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How ProofPay Uses Rialo">
    <p:spTree>
      <p:nvGrpSpPr>
        <p:cNvPr id="1" name=""/>
        <p:cNvGrpSpPr/>
        <p:nvPr/>
      </p:nvGrpSpPr>
      <p:grpSpPr>
        <a:xfrm>
          <a:off x="0" y="0"/>
          <a:ext cx="12191999" cy="6858000"/>
          <a:chOff x="0" y="0"/>
          <a:chExt cx="12191999" cy="685800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4" name="kicker"/>
          <p:cNvSpPr txBox="1"/>
          <p:nvPr/>
        </p:nvSpPr>
        <p:spPr>
          <a:xfrm>
            <a:off x="676656" y="34747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900" b="1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RIALO FIT</a:t>
            </a:r>
            <a:endParaRPr lang="en-US" sz="90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title"/>
          <p:cNvSpPr txBox="1"/>
          <p:nvPr/>
        </p:nvSpPr>
        <p:spPr>
          <a:xfrm>
            <a:off x="658368" y="621792"/>
            <a:ext cx="905256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2700" b="1" dirty="0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How ProofPay Uses Rialo</a:t>
            </a:r>
            <a:endParaRPr lang="en-US" sz="2700" dirty="0">
              <a:solidFill>
                <a:srgbClr val="10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number block"/>
          <p:cNvSpPr/>
          <p:nvPr/>
        </p:nvSpPr>
        <p:spPr>
          <a:xfrm>
            <a:off x="10652760" y="347472"/>
            <a:ext cx="749808" cy="384048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7" name="number"/>
          <p:cNvSpPr txBox="1"/>
          <p:nvPr/>
        </p:nvSpPr>
        <p:spPr>
          <a:xfrm>
            <a:off x="10698480" y="411480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0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  <a:endParaRPr lang="en-US" sz="105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left head"/>
          <p:cNvSpPr txBox="1"/>
          <p:nvPr/>
        </p:nvSpPr>
        <p:spPr>
          <a:xfrm>
            <a:off x="868680" y="1417320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0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Rialo primitive</a:t>
            </a:r>
            <a:endParaRPr lang="en-US" sz="130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right head"/>
          <p:cNvSpPr txBox="1"/>
          <p:nvPr/>
        </p:nvSpPr>
        <p:spPr>
          <a:xfrm>
            <a:off x="5715000" y="1417320"/>
            <a:ext cx="43891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0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Value for ProofPay</a:t>
            </a:r>
            <a:endParaRPr lang="en-US" sz="130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0" name="row Reactive Transactions"/>
          <p:cNvSpPr/>
          <p:nvPr/>
        </p:nvSpPr>
        <p:spPr>
          <a:xfrm>
            <a:off x="749808" y="1828800"/>
            <a:ext cx="1065276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11" name="row accent Reactive Transactions"/>
          <p:cNvSpPr/>
          <p:nvPr/>
        </p:nvSpPr>
        <p:spPr>
          <a:xfrm>
            <a:off x="749808" y="1828800"/>
            <a:ext cx="73152" cy="585216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12" name="left Reactive Transactions"/>
          <p:cNvSpPr txBox="1"/>
          <p:nvPr/>
        </p:nvSpPr>
        <p:spPr>
          <a:xfrm>
            <a:off x="932688" y="1965960"/>
            <a:ext cx="402336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12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Reactive Transactions</a:t>
            </a:r>
            <a:endParaRPr lang="en-US" sz="112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right Reactive Transactions"/>
          <p:cNvSpPr txBox="1"/>
          <p:nvPr/>
        </p:nvSpPr>
        <p:spPr>
          <a:xfrm>
            <a:off x="5715000" y="1947672"/>
            <a:ext cx="53035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98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This is the target model: once conditions are met, settlement can react automatically.</a:t>
            </a:r>
            <a:endParaRPr lang="en-US" sz="98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4" name="row Async Transactions"/>
          <p:cNvSpPr/>
          <p:nvPr/>
        </p:nvSpPr>
        <p:spPr>
          <a:xfrm>
            <a:off x="749808" y="2523744"/>
            <a:ext cx="1065276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15" name="row accent Async Transactions"/>
          <p:cNvSpPr/>
          <p:nvPr/>
        </p:nvSpPr>
        <p:spPr>
          <a:xfrm>
            <a:off x="749808" y="2523744"/>
            <a:ext cx="73152" cy="585216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6" name="left Async Transactions"/>
          <p:cNvSpPr txBox="1"/>
          <p:nvPr/>
        </p:nvSpPr>
        <p:spPr>
          <a:xfrm>
            <a:off x="932688" y="2660903"/>
            <a:ext cx="402336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12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Async Transactions</a:t>
            </a:r>
            <a:endParaRPr lang="en-US" sz="112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right Async Transactions"/>
          <p:cNvSpPr txBox="1"/>
          <p:nvPr/>
        </p:nvSpPr>
        <p:spPr>
          <a:xfrm>
            <a:off x="5715000" y="2642615"/>
            <a:ext cx="53035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98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It matches the need to wait for GitHub or off-chain proof before continuing.</a:t>
            </a:r>
            <a:endParaRPr lang="en-US" sz="98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row Rialo Edge"/>
          <p:cNvSpPr/>
          <p:nvPr/>
        </p:nvSpPr>
        <p:spPr>
          <a:xfrm>
            <a:off x="749808" y="3218687"/>
            <a:ext cx="1065276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19" name="row accent Rialo Edge"/>
          <p:cNvSpPr/>
          <p:nvPr/>
        </p:nvSpPr>
        <p:spPr>
          <a:xfrm>
            <a:off x="749808" y="3218687"/>
            <a:ext cx="73152" cy="585216"/>
          </a:xfrm>
          <a:prstGeom prst="rect">
            <a:avLst/>
          </a:prstGeom>
          <a:solidFill>
            <a:srgbClr val="EA580C"/>
          </a:solidFill>
          <a:ln>
            <a:noFill/>
          </a:ln>
        </p:spPr>
      </p:sp>
      <p:sp>
        <p:nvSpPr>
          <p:cNvPr id="20" name="left Rialo Edge"/>
          <p:cNvSpPr txBox="1"/>
          <p:nvPr/>
        </p:nvSpPr>
        <p:spPr>
          <a:xfrm>
            <a:off x="932688" y="3355847"/>
            <a:ext cx="402336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12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Rialo Edge</a:t>
            </a:r>
            <a:endParaRPr lang="en-US" sz="112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right Rialo Edge"/>
          <p:cNvSpPr txBox="1"/>
          <p:nvPr/>
        </p:nvSpPr>
        <p:spPr>
          <a:xfrm>
            <a:off x="5715000" y="3337559"/>
            <a:ext cx="53035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98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Useful for production connections to GitHub, private repos, and external APIs.</a:t>
            </a:r>
            <a:endParaRPr lang="en-US" sz="98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row Rialo Workflow"/>
          <p:cNvSpPr/>
          <p:nvPr/>
        </p:nvSpPr>
        <p:spPr>
          <a:xfrm>
            <a:off x="749808" y="3913631"/>
            <a:ext cx="1065276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23" name="row accent Rialo Workflow"/>
          <p:cNvSpPr/>
          <p:nvPr/>
        </p:nvSpPr>
        <p:spPr>
          <a:xfrm>
            <a:off x="749808" y="3913631"/>
            <a:ext cx="73152" cy="585216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24" name="left Rialo Workflow"/>
          <p:cNvSpPr txBox="1"/>
          <p:nvPr/>
        </p:nvSpPr>
        <p:spPr>
          <a:xfrm>
            <a:off x="932688" y="4050791"/>
            <a:ext cx="402336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12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Rialo Workflow</a:t>
            </a:r>
            <a:endParaRPr lang="en-US" sz="112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5" name="right Rialo Workflow"/>
          <p:cNvSpPr txBox="1"/>
          <p:nvPr/>
        </p:nvSpPr>
        <p:spPr>
          <a:xfrm>
            <a:off x="5715000" y="4032503"/>
            <a:ext cx="53035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98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This is already the product shape of ProofPay: create, fund, verify, release, refund, dispute.</a:t>
            </a:r>
            <a:endParaRPr lang="en-US" sz="98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row IPC + privacy"/>
          <p:cNvSpPr/>
          <p:nvPr/>
        </p:nvSpPr>
        <p:spPr>
          <a:xfrm>
            <a:off x="749808" y="4608575"/>
            <a:ext cx="1065276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27" name="row accent IPC + privacy"/>
          <p:cNvSpPr/>
          <p:nvPr/>
        </p:nvSpPr>
        <p:spPr>
          <a:xfrm>
            <a:off x="749808" y="4608575"/>
            <a:ext cx="73152" cy="585216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8" name="left IPC + privacy"/>
          <p:cNvSpPr txBox="1"/>
          <p:nvPr/>
        </p:nvSpPr>
        <p:spPr>
          <a:xfrm>
            <a:off x="932688" y="4745736"/>
            <a:ext cx="402336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12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IPC + privacy</a:t>
            </a:r>
            <a:endParaRPr lang="en-US" sz="112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9" name="right IPC + privacy"/>
          <p:cNvSpPr txBox="1"/>
          <p:nvPr/>
        </p:nvSpPr>
        <p:spPr>
          <a:xfrm>
            <a:off x="5715000" y="4727447"/>
            <a:ext cx="53035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98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Fits private repo flows where only proof hashes and results should be published.</a:t>
            </a:r>
            <a:endParaRPr lang="en-US" sz="98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0" name="row Omni Account / Interop"/>
          <p:cNvSpPr/>
          <p:nvPr/>
        </p:nvSpPr>
        <p:spPr>
          <a:xfrm>
            <a:off x="749808" y="5303519"/>
            <a:ext cx="10652760" cy="585216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31" name="row accent Omni Account / Interop"/>
          <p:cNvSpPr/>
          <p:nvPr/>
        </p:nvSpPr>
        <p:spPr>
          <a:xfrm>
            <a:off x="749808" y="5303519"/>
            <a:ext cx="73152" cy="585216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32" name="left Omni Account / Interop"/>
          <p:cNvSpPr txBox="1"/>
          <p:nvPr/>
        </p:nvSpPr>
        <p:spPr>
          <a:xfrm>
            <a:off x="932688" y="5440679"/>
            <a:ext cx="4023360" cy="21031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12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Omni Account / Interop</a:t>
            </a:r>
            <a:endParaRPr lang="en-US" sz="112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3" name="right Omni Account / Interop"/>
          <p:cNvSpPr txBox="1"/>
          <p:nvPr/>
        </p:nvSpPr>
        <p:spPr>
          <a:xfrm>
            <a:off x="5715000" y="5422391"/>
            <a:ext cx="530352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98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Not used by the prototype yet, but relevant for future multi-network payments.</a:t>
            </a:r>
            <a:endParaRPr lang="en-US" sz="98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4" name="footer"/>
          <p:cNvSpPr txBox="1"/>
          <p:nvPr/>
        </p:nvSpPr>
        <p:spPr>
          <a:xfrm>
            <a:off x="658368" y="6291072"/>
            <a:ext cx="77724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8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This is a product-to-platform fit slide, not a claim of full live integration  |  5/14</a:t>
            </a:r>
            <a:endParaRPr lang="en-US" sz="8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hat Level of Rialo Is Used Today">
    <p:spTree>
      <p:nvGrpSpPr>
        <p:cNvPr id="1" name=""/>
        <p:cNvGrpSpPr/>
        <p:nvPr/>
      </p:nvGrpSpPr>
      <p:grpSpPr>
        <a:xfrm>
          <a:off x="0" y="0"/>
          <a:ext cx="12191999" cy="6858000"/>
          <a:chOff x="0" y="0"/>
          <a:chExt cx="12191999" cy="685800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EA580C"/>
          </a:solidFill>
          <a:ln>
            <a:noFill/>
          </a:ln>
        </p:spPr>
      </p:sp>
      <p:sp>
        <p:nvSpPr>
          <p:cNvPr id="4" name="kicker"/>
          <p:cNvSpPr txBox="1"/>
          <p:nvPr/>
        </p:nvSpPr>
        <p:spPr>
          <a:xfrm>
            <a:off x="676656" y="34747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900" b="1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NOW VS LATER</a:t>
            </a:r>
            <a:endParaRPr lang="en-US" sz="90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title"/>
          <p:cNvSpPr txBox="1"/>
          <p:nvPr/>
        </p:nvSpPr>
        <p:spPr>
          <a:xfrm>
            <a:off x="658368" y="621792"/>
            <a:ext cx="905256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2700" b="1" dirty="0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What Level of Rialo Is Used Today</a:t>
            </a:r>
            <a:endParaRPr lang="en-US" sz="2700" dirty="0">
              <a:solidFill>
                <a:srgbClr val="10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number block"/>
          <p:cNvSpPr/>
          <p:nvPr/>
        </p:nvSpPr>
        <p:spPr>
          <a:xfrm>
            <a:off x="10652760" y="347472"/>
            <a:ext cx="749808" cy="384048"/>
          </a:xfrm>
          <a:prstGeom prst="rect">
            <a:avLst/>
          </a:prstGeom>
          <a:solidFill>
            <a:srgbClr val="EA580C"/>
          </a:solidFill>
          <a:ln>
            <a:noFill/>
          </a:ln>
        </p:spPr>
      </p:sp>
      <p:sp>
        <p:nvSpPr>
          <p:cNvPr id="7" name="number"/>
          <p:cNvSpPr txBox="1"/>
          <p:nvPr/>
        </p:nvSpPr>
        <p:spPr>
          <a:xfrm>
            <a:off x="10698480" y="411480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0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  <a:endParaRPr lang="en-US" sz="105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card Used today"/>
          <p:cNvSpPr/>
          <p:nvPr/>
        </p:nvSpPr>
        <p:spPr>
          <a:xfrm>
            <a:off x="713232" y="1508760"/>
            <a:ext cx="30175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9" name="card accent Used today"/>
          <p:cNvSpPr/>
          <p:nvPr/>
        </p:nvSpPr>
        <p:spPr>
          <a:xfrm>
            <a:off x="713232" y="1508760"/>
            <a:ext cx="73152" cy="164592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10" name="card title Used today"/>
          <p:cNvSpPr txBox="1"/>
          <p:nvPr/>
        </p:nvSpPr>
        <p:spPr>
          <a:xfrm>
            <a:off x="859536" y="1655063"/>
            <a:ext cx="2761487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Used today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card body Used today"/>
          <p:cNvSpPr txBox="1"/>
          <p:nvPr/>
        </p:nvSpPr>
        <p:spPr>
          <a:xfrm>
            <a:off x="859536" y="2011680"/>
            <a:ext cx="2761487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The adapter boundary, escrow lifecycle, proof-hash flow, and state machine are designed around a Rialo-style model.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card Mocked today"/>
          <p:cNvSpPr/>
          <p:nvPr/>
        </p:nvSpPr>
        <p:spPr>
          <a:xfrm>
            <a:off x="4133087" y="1508760"/>
            <a:ext cx="30175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13" name="card accent Mocked today"/>
          <p:cNvSpPr/>
          <p:nvPr/>
        </p:nvSpPr>
        <p:spPr>
          <a:xfrm>
            <a:off x="4133087" y="1508760"/>
            <a:ext cx="73152" cy="1645920"/>
          </a:xfrm>
          <a:prstGeom prst="rect">
            <a:avLst/>
          </a:prstGeom>
          <a:solidFill>
            <a:srgbClr val="EA580C"/>
          </a:solidFill>
          <a:ln>
            <a:noFill/>
          </a:ln>
        </p:spPr>
      </p:sp>
      <p:sp>
        <p:nvSpPr>
          <p:cNvPr id="14" name="card title Mocked today"/>
          <p:cNvSpPr txBox="1"/>
          <p:nvPr/>
        </p:nvSpPr>
        <p:spPr>
          <a:xfrm>
            <a:off x="4279392" y="1655063"/>
            <a:ext cx="2761487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Mocked today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card body Mocked today"/>
          <p:cNvSpPr txBox="1"/>
          <p:nvPr/>
        </p:nvSpPr>
        <p:spPr>
          <a:xfrm>
            <a:off x="4279392" y="2011680"/>
            <a:ext cx="2761487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create escrow, fund, anchor proof, release, and refund still return mock tx hashes through MockRialoAdapter.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card Not live on Rialo yet"/>
          <p:cNvSpPr/>
          <p:nvPr/>
        </p:nvSpPr>
        <p:spPr>
          <a:xfrm>
            <a:off x="7552944" y="1508760"/>
            <a:ext cx="30175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17" name="card accent Not live on Rialo yet"/>
          <p:cNvSpPr/>
          <p:nvPr/>
        </p:nvSpPr>
        <p:spPr>
          <a:xfrm>
            <a:off x="7552944" y="1508760"/>
            <a:ext cx="73152" cy="1645920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18" name="card title Not live on Rialo yet"/>
          <p:cNvSpPr txBox="1"/>
          <p:nvPr/>
        </p:nvSpPr>
        <p:spPr>
          <a:xfrm>
            <a:off x="7699248" y="1655063"/>
            <a:ext cx="2761487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Not live on Rialo yet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card body Not live on Rialo yet"/>
          <p:cNvSpPr txBox="1"/>
          <p:nvPr/>
        </p:nvSpPr>
        <p:spPr>
          <a:xfrm>
            <a:off x="7699248" y="2011680"/>
            <a:ext cx="2761487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There is no real asset custody, signed transaction, or devnet program/service yet.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card Current integration points"/>
          <p:cNvSpPr/>
          <p:nvPr/>
        </p:nvSpPr>
        <p:spPr>
          <a:xfrm>
            <a:off x="713232" y="3803904"/>
            <a:ext cx="30175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21" name="card accent Current integration points"/>
          <p:cNvSpPr/>
          <p:nvPr/>
        </p:nvSpPr>
        <p:spPr>
          <a:xfrm>
            <a:off x="713232" y="3803904"/>
            <a:ext cx="73152" cy="164592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2" name="card title Current integration points"/>
          <p:cNvSpPr txBox="1"/>
          <p:nvPr/>
        </p:nvSpPr>
        <p:spPr>
          <a:xfrm>
            <a:off x="859536" y="3950208"/>
            <a:ext cx="2761487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Current integration points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card body Current integration points"/>
          <p:cNvSpPr txBox="1"/>
          <p:nvPr/>
        </p:nvSpPr>
        <p:spPr>
          <a:xfrm>
            <a:off x="859536" y="4306824"/>
            <a:ext cx="2761487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The backend calls rialoAdapter in create, fund, verify-&gt;submitProofHash, release, and refund.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card Current value"/>
          <p:cNvSpPr/>
          <p:nvPr/>
        </p:nvSpPr>
        <p:spPr>
          <a:xfrm>
            <a:off x="4133087" y="3803904"/>
            <a:ext cx="30175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25" name="card accent Current value"/>
          <p:cNvSpPr/>
          <p:nvPr/>
        </p:nvSpPr>
        <p:spPr>
          <a:xfrm>
            <a:off x="4133087" y="3803904"/>
            <a:ext cx="73152" cy="164592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26" name="card title Current value"/>
          <p:cNvSpPr txBox="1"/>
          <p:nvPr/>
        </p:nvSpPr>
        <p:spPr>
          <a:xfrm>
            <a:off x="4279392" y="3950208"/>
            <a:ext cx="2761487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Current value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card body Current value"/>
          <p:cNvSpPr txBox="1"/>
          <p:nvPr/>
        </p:nvSpPr>
        <p:spPr>
          <a:xfrm>
            <a:off x="4279392" y="4306824"/>
            <a:ext cx="2761487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This validates UX, API design, verifier behavior, and the audit trail before expensive chain integration.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card Next step"/>
          <p:cNvSpPr/>
          <p:nvPr/>
        </p:nvSpPr>
        <p:spPr>
          <a:xfrm>
            <a:off x="7552944" y="3803904"/>
            <a:ext cx="30175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29" name="card accent Next step"/>
          <p:cNvSpPr/>
          <p:nvPr/>
        </p:nvSpPr>
        <p:spPr>
          <a:xfrm>
            <a:off x="7552944" y="3803904"/>
            <a:ext cx="73152" cy="164592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30" name="card title Next step"/>
          <p:cNvSpPr txBox="1"/>
          <p:nvPr/>
        </p:nvSpPr>
        <p:spPr>
          <a:xfrm>
            <a:off x="7699248" y="3950208"/>
            <a:ext cx="2761487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Next step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card body Next step"/>
          <p:cNvSpPr txBox="1"/>
          <p:nvPr/>
        </p:nvSpPr>
        <p:spPr>
          <a:xfrm>
            <a:off x="7699248" y="4306824"/>
            <a:ext cx="2761487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Replace MockRialoAdapter with the Rialo Rust microservice or rialo-cdk path described in the README.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2" name="footer"/>
          <p:cNvSpPr txBox="1"/>
          <p:nvPr/>
        </p:nvSpPr>
        <p:spPr>
          <a:xfrm>
            <a:off x="658368" y="6291072"/>
            <a:ext cx="77724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8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This is the slide that removes confusion during a demo  |  6/14</a:t>
            </a:r>
            <a:endParaRPr lang="en-US" sz="8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ialo Technology Advantage">
    <p:spTree>
      <p:nvGrpSpPr>
        <p:cNvPr id="1" name=""/>
        <p:cNvGrpSpPr/>
        <p:nvPr/>
      </p:nvGrpSpPr>
      <p:grpSpPr>
        <a:xfrm>
          <a:off x="0" y="0"/>
          <a:ext cx="12191999" cy="6858000"/>
          <a:chOff x="0" y="0"/>
          <a:chExt cx="12191999" cy="685800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4" name="kicker"/>
          <p:cNvSpPr txBox="1"/>
          <p:nvPr/>
        </p:nvSpPr>
        <p:spPr>
          <a:xfrm>
            <a:off x="676656" y="34747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900" b="1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WHY RIALO MATTERS</a:t>
            </a:r>
            <a:endParaRPr lang="en-US" sz="90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title"/>
          <p:cNvSpPr txBox="1"/>
          <p:nvPr/>
        </p:nvSpPr>
        <p:spPr>
          <a:xfrm>
            <a:off x="658368" y="621792"/>
            <a:ext cx="905256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2700" b="1" dirty="0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Rialo Technology Advantage</a:t>
            </a:r>
            <a:endParaRPr lang="en-US" sz="2700" dirty="0">
              <a:solidFill>
                <a:srgbClr val="10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number block"/>
          <p:cNvSpPr/>
          <p:nvPr/>
        </p:nvSpPr>
        <p:spPr>
          <a:xfrm>
            <a:off x="10652760" y="347472"/>
            <a:ext cx="749808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7" name="number"/>
          <p:cNvSpPr txBox="1"/>
          <p:nvPr/>
        </p:nvSpPr>
        <p:spPr>
          <a:xfrm>
            <a:off x="10698480" y="411480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0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07</a:t>
            </a:r>
            <a:endParaRPr lang="en-US" sz="105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card Fast settlement"/>
          <p:cNvSpPr/>
          <p:nvPr/>
        </p:nvSpPr>
        <p:spPr>
          <a:xfrm>
            <a:off x="713232" y="1508760"/>
            <a:ext cx="30175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9" name="card accent Fast settlement"/>
          <p:cNvSpPr/>
          <p:nvPr/>
        </p:nvSpPr>
        <p:spPr>
          <a:xfrm>
            <a:off x="713232" y="1508760"/>
            <a:ext cx="73152" cy="164592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10" name="card title Fast settlement"/>
          <p:cNvSpPr txBox="1"/>
          <p:nvPr/>
        </p:nvSpPr>
        <p:spPr>
          <a:xfrm>
            <a:off x="859536" y="1655063"/>
            <a:ext cx="2761487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Fast settlement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card body Fast settlement"/>
          <p:cNvSpPr txBox="1"/>
          <p:nvPr/>
        </p:nvSpPr>
        <p:spPr>
          <a:xfrm>
            <a:off x="859536" y="2011680"/>
            <a:ext cx="2761487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The Dev Portal positions Rialo around 0.13s finality and 0.05s block time.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card High throughput"/>
          <p:cNvSpPr/>
          <p:nvPr/>
        </p:nvSpPr>
        <p:spPr>
          <a:xfrm>
            <a:off x="4133087" y="1508760"/>
            <a:ext cx="30175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13" name="card accent High throughput"/>
          <p:cNvSpPr/>
          <p:nvPr/>
        </p:nvSpPr>
        <p:spPr>
          <a:xfrm>
            <a:off x="4133087" y="1508760"/>
            <a:ext cx="73152" cy="164592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4" name="card title High throughput"/>
          <p:cNvSpPr txBox="1"/>
          <p:nvPr/>
        </p:nvSpPr>
        <p:spPr>
          <a:xfrm>
            <a:off x="4279392" y="1655063"/>
            <a:ext cx="2761487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High throughput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card body High throughput"/>
          <p:cNvSpPr txBox="1"/>
          <p:nvPr/>
        </p:nvSpPr>
        <p:spPr>
          <a:xfrm>
            <a:off x="4279392" y="2011680"/>
            <a:ext cx="2761487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Execution TPS is positioned at 1M+ for high-volume workloads.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card Low reaction time"/>
          <p:cNvSpPr/>
          <p:nvPr/>
        </p:nvSpPr>
        <p:spPr>
          <a:xfrm>
            <a:off x="7552944" y="1508760"/>
            <a:ext cx="30175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17" name="card accent Low reaction time"/>
          <p:cNvSpPr/>
          <p:nvPr/>
        </p:nvSpPr>
        <p:spPr>
          <a:xfrm>
            <a:off x="7552944" y="1508760"/>
            <a:ext cx="73152" cy="164592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18" name="card title Low reaction time"/>
          <p:cNvSpPr txBox="1"/>
          <p:nvPr/>
        </p:nvSpPr>
        <p:spPr>
          <a:xfrm>
            <a:off x="7699248" y="1655063"/>
            <a:ext cx="2761487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Low reaction time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card body Low reaction time"/>
          <p:cNvSpPr txBox="1"/>
          <p:nvPr/>
        </p:nvSpPr>
        <p:spPr>
          <a:xfrm>
            <a:off x="7699248" y="2011680"/>
            <a:ext cx="2761487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0.000001s reaction time fits conditional automation.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card Edge for Web2 calls"/>
          <p:cNvSpPr/>
          <p:nvPr/>
        </p:nvSpPr>
        <p:spPr>
          <a:xfrm>
            <a:off x="713232" y="3803904"/>
            <a:ext cx="30175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21" name="card accent Edge for Web2 calls"/>
          <p:cNvSpPr/>
          <p:nvPr/>
        </p:nvSpPr>
        <p:spPr>
          <a:xfrm>
            <a:off x="713232" y="3803904"/>
            <a:ext cx="73152" cy="1645920"/>
          </a:xfrm>
          <a:prstGeom prst="rect">
            <a:avLst/>
          </a:prstGeom>
          <a:solidFill>
            <a:srgbClr val="EA580C"/>
          </a:solidFill>
          <a:ln>
            <a:noFill/>
          </a:ln>
        </p:spPr>
      </p:sp>
      <p:sp>
        <p:nvSpPr>
          <p:cNvPr id="22" name="card title Edge for Web2 calls"/>
          <p:cNvSpPr txBox="1"/>
          <p:nvPr/>
        </p:nvSpPr>
        <p:spPr>
          <a:xfrm>
            <a:off x="859536" y="3950208"/>
            <a:ext cx="2761487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Edge for Web2 calls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card body Edge for Web2 calls"/>
          <p:cNvSpPr txBox="1"/>
          <p:nvPr/>
        </p:nvSpPr>
        <p:spPr>
          <a:xfrm>
            <a:off x="859536" y="4306824"/>
            <a:ext cx="2761487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Rialo Edge targets bidirectional Web2 interactivity and 100k+ concurrent calls.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card Native workflow"/>
          <p:cNvSpPr/>
          <p:nvPr/>
        </p:nvSpPr>
        <p:spPr>
          <a:xfrm>
            <a:off x="4133087" y="3803904"/>
            <a:ext cx="30175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25" name="card accent Native workflow"/>
          <p:cNvSpPr/>
          <p:nvPr/>
        </p:nvSpPr>
        <p:spPr>
          <a:xfrm>
            <a:off x="4133087" y="3803904"/>
            <a:ext cx="73152" cy="164592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6" name="card title Native workflow"/>
          <p:cNvSpPr txBox="1"/>
          <p:nvPr/>
        </p:nvSpPr>
        <p:spPr>
          <a:xfrm>
            <a:off x="4279392" y="3950208"/>
            <a:ext cx="2761487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Native workflow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card body Native workflow"/>
          <p:cNvSpPr txBox="1"/>
          <p:nvPr/>
        </p:nvSpPr>
        <p:spPr>
          <a:xfrm>
            <a:off x="4279392" y="4306824"/>
            <a:ext cx="2761487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Native automation supports multi-step escrow that mirrors real-world logic.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card Gas-less path"/>
          <p:cNvSpPr/>
          <p:nvPr/>
        </p:nvSpPr>
        <p:spPr>
          <a:xfrm>
            <a:off x="7552944" y="3803904"/>
            <a:ext cx="30175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29" name="card accent Gas-less path"/>
          <p:cNvSpPr/>
          <p:nvPr/>
        </p:nvSpPr>
        <p:spPr>
          <a:xfrm>
            <a:off x="7552944" y="3803904"/>
            <a:ext cx="73152" cy="164592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30" name="card title Gas-less path"/>
          <p:cNvSpPr txBox="1"/>
          <p:nvPr/>
        </p:nvSpPr>
        <p:spPr>
          <a:xfrm>
            <a:off x="7699248" y="3950208"/>
            <a:ext cx="2761487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Gas-less path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card body Gas-less path"/>
          <p:cNvSpPr txBox="1"/>
          <p:nvPr/>
        </p:nvSpPr>
        <p:spPr>
          <a:xfrm>
            <a:off x="7699248" y="4306824"/>
            <a:ext cx="2761487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Rialo Cruise gives a route toward low-to-zero-fee production UX.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2" name="footer"/>
          <p:cNvSpPr txBox="1"/>
          <p:nvPr/>
        </p:nvSpPr>
        <p:spPr>
          <a:xfrm>
            <a:off x="658368" y="6291072"/>
            <a:ext cx="77724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8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These properties make ProofPay more than a generic Web3 escrow  |  7/14</a:t>
            </a:r>
            <a:endParaRPr lang="en-US" sz="8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urrent Architecture and Upgrade Path">
    <p:spTree>
      <p:nvGrpSpPr>
        <p:cNvPr id="1" name=""/>
        <p:cNvGrpSpPr/>
        <p:nvPr/>
      </p:nvGrpSpPr>
      <p:grpSpPr>
        <a:xfrm>
          <a:off x="0" y="0"/>
          <a:ext cx="12191999" cy="6858000"/>
          <a:chOff x="0" y="0"/>
          <a:chExt cx="12191999" cy="685800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kicker"/>
          <p:cNvSpPr txBox="1"/>
          <p:nvPr/>
        </p:nvSpPr>
        <p:spPr>
          <a:xfrm>
            <a:off x="676656" y="34747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900" b="1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TECHNICAL ARCHITECTURE</a:t>
            </a:r>
            <a:endParaRPr lang="en-US" sz="90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title"/>
          <p:cNvSpPr txBox="1"/>
          <p:nvPr/>
        </p:nvSpPr>
        <p:spPr>
          <a:xfrm>
            <a:off x="658368" y="621792"/>
            <a:ext cx="905256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2700" b="1" dirty="0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Current Architecture and Upgrade Path</a:t>
            </a:r>
            <a:endParaRPr lang="en-US" sz="2700" dirty="0">
              <a:solidFill>
                <a:srgbClr val="10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number block"/>
          <p:cNvSpPr/>
          <p:nvPr/>
        </p:nvSpPr>
        <p:spPr>
          <a:xfrm>
            <a:off x="10652760" y="347472"/>
            <a:ext cx="749808" cy="384048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7" name="number"/>
          <p:cNvSpPr txBox="1"/>
          <p:nvPr/>
        </p:nvSpPr>
        <p:spPr>
          <a:xfrm>
            <a:off x="10698480" y="411480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0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08</a:t>
            </a:r>
            <a:endParaRPr lang="en-US" sz="105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layer 1"/>
          <p:cNvSpPr/>
          <p:nvPr/>
        </p:nvSpPr>
        <p:spPr>
          <a:xfrm>
            <a:off x="868680" y="1481328"/>
            <a:ext cx="10405872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9" name="layer accent 1"/>
          <p:cNvSpPr/>
          <p:nvPr/>
        </p:nvSpPr>
        <p:spPr>
          <a:xfrm>
            <a:off x="868680" y="1481328"/>
            <a:ext cx="91440" cy="694944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0" name="layer title 1"/>
          <p:cNvSpPr txBox="1"/>
          <p:nvPr/>
        </p:nvSpPr>
        <p:spPr>
          <a:xfrm>
            <a:off x="1097280" y="1627632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1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Static DApp UI</a:t>
            </a:r>
            <a:endParaRPr lang="en-US" sz="11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layer body 1"/>
          <p:cNvSpPr txBox="1"/>
          <p:nvPr/>
        </p:nvSpPr>
        <p:spPr>
          <a:xfrm>
            <a:off x="3657600" y="1609344"/>
            <a:ext cx="71323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98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Dashboard, simulated wallet session, RIALO ledger, escrow actions.</a:t>
            </a:r>
            <a:endParaRPr lang="en-US" sz="98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down 1"/>
          <p:cNvSpPr txBox="1"/>
          <p:nvPr/>
        </p:nvSpPr>
        <p:spPr>
          <a:xfrm>
            <a:off x="5559552" y="220370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900" b="1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v</a:t>
            </a:r>
            <a:endParaRPr lang="en-US" sz="90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layer 2"/>
          <p:cNvSpPr/>
          <p:nvPr/>
        </p:nvSpPr>
        <p:spPr>
          <a:xfrm>
            <a:off x="868680" y="2331720"/>
            <a:ext cx="10405872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14" name="layer accent 2"/>
          <p:cNvSpPr/>
          <p:nvPr/>
        </p:nvSpPr>
        <p:spPr>
          <a:xfrm>
            <a:off x="868680" y="2331720"/>
            <a:ext cx="91440" cy="694944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15" name="layer title 2"/>
          <p:cNvSpPr txBox="1"/>
          <p:nvPr/>
        </p:nvSpPr>
        <p:spPr>
          <a:xfrm>
            <a:off x="1097280" y="2478024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1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Node.js / Express API</a:t>
            </a:r>
            <a:endParaRPr lang="en-US" sz="11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layer body 2"/>
          <p:cNvSpPr txBox="1"/>
          <p:nvPr/>
        </p:nvSpPr>
        <p:spPr>
          <a:xfrm>
            <a:off x="3657600" y="2459736"/>
            <a:ext cx="71323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98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Deal lifecycle, validation, and fund / verify / release / refund / dispute routes.</a:t>
            </a:r>
            <a:endParaRPr lang="en-US" sz="98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down 2"/>
          <p:cNvSpPr txBox="1"/>
          <p:nvPr/>
        </p:nvSpPr>
        <p:spPr>
          <a:xfrm>
            <a:off x="5559552" y="3054096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900" b="1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v</a:t>
            </a:r>
            <a:endParaRPr lang="en-US" sz="90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layer 3"/>
          <p:cNvSpPr/>
          <p:nvPr/>
        </p:nvSpPr>
        <p:spPr>
          <a:xfrm>
            <a:off x="868680" y="3182112"/>
            <a:ext cx="10405872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19" name="layer accent 3"/>
          <p:cNvSpPr/>
          <p:nvPr/>
        </p:nvSpPr>
        <p:spPr>
          <a:xfrm>
            <a:off x="868680" y="3182112"/>
            <a:ext cx="91440" cy="694944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0" name="layer title 3"/>
          <p:cNvSpPr txBox="1"/>
          <p:nvPr/>
        </p:nvSpPr>
        <p:spPr>
          <a:xfrm>
            <a:off x="1097280" y="3328416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1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Storage abstraction</a:t>
            </a:r>
            <a:endParaRPr lang="en-US" sz="11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layer body 3"/>
          <p:cNvSpPr txBox="1"/>
          <p:nvPr/>
        </p:nvSpPr>
        <p:spPr>
          <a:xfrm>
            <a:off x="3657600" y="3310128"/>
            <a:ext cx="71323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98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Local JSON fallback plus Vercel KV / Upstash path for durable state.</a:t>
            </a:r>
            <a:endParaRPr lang="en-US" sz="98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down 3"/>
          <p:cNvSpPr txBox="1"/>
          <p:nvPr/>
        </p:nvSpPr>
        <p:spPr>
          <a:xfrm>
            <a:off x="5559552" y="390448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900" b="1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v</a:t>
            </a:r>
            <a:endParaRPr lang="en-US" sz="90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layer 4"/>
          <p:cNvSpPr/>
          <p:nvPr/>
        </p:nvSpPr>
        <p:spPr>
          <a:xfrm>
            <a:off x="868680" y="4032504"/>
            <a:ext cx="10405872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24" name="layer accent 4"/>
          <p:cNvSpPr/>
          <p:nvPr/>
        </p:nvSpPr>
        <p:spPr>
          <a:xfrm>
            <a:off x="868680" y="4032504"/>
            <a:ext cx="91440" cy="694944"/>
          </a:xfrm>
          <a:prstGeom prst="rect">
            <a:avLst/>
          </a:prstGeom>
          <a:solidFill>
            <a:srgbClr val="EA580C"/>
          </a:solidFill>
          <a:ln>
            <a:noFill/>
          </a:ln>
        </p:spPr>
      </p:sp>
      <p:sp>
        <p:nvSpPr>
          <p:cNvPr id="25" name="layer title 4"/>
          <p:cNvSpPr txBox="1"/>
          <p:nvPr/>
        </p:nvSpPr>
        <p:spPr>
          <a:xfrm>
            <a:off x="1097280" y="4178808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1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GitHub verifier</a:t>
            </a:r>
            <a:endParaRPr lang="en-US" sz="11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layer body 4"/>
          <p:cNvSpPr txBox="1"/>
          <p:nvPr/>
        </p:nvSpPr>
        <p:spPr>
          <a:xfrm>
            <a:off x="3657600" y="4160520"/>
            <a:ext cx="71323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98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Checks owner, repo, PR number, merge status, deadline, and expected author.</a:t>
            </a:r>
            <a:endParaRPr lang="en-US" sz="98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down 4"/>
          <p:cNvSpPr txBox="1"/>
          <p:nvPr/>
        </p:nvSpPr>
        <p:spPr>
          <a:xfrm>
            <a:off x="5559552" y="4754880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900" b="1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v</a:t>
            </a:r>
            <a:endParaRPr lang="en-US" sz="90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layer 5"/>
          <p:cNvSpPr/>
          <p:nvPr/>
        </p:nvSpPr>
        <p:spPr>
          <a:xfrm>
            <a:off x="868680" y="4882896"/>
            <a:ext cx="10405872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29" name="layer accent 5"/>
          <p:cNvSpPr/>
          <p:nvPr/>
        </p:nvSpPr>
        <p:spPr>
          <a:xfrm>
            <a:off x="868680" y="4882896"/>
            <a:ext cx="91440" cy="694944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30" name="layer title 5"/>
          <p:cNvSpPr txBox="1"/>
          <p:nvPr/>
        </p:nvSpPr>
        <p:spPr>
          <a:xfrm>
            <a:off x="1097280" y="5029200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1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Mock Rialo adapter</a:t>
            </a:r>
            <a:endParaRPr lang="en-US" sz="11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layer body 5"/>
          <p:cNvSpPr txBox="1"/>
          <p:nvPr/>
        </p:nvSpPr>
        <p:spPr>
          <a:xfrm>
            <a:off x="3657600" y="5010912"/>
            <a:ext cx="71323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98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Returns transaction-shaped responses for escrow, fund, anchor, release, refund.</a:t>
            </a:r>
            <a:endParaRPr lang="en-US" sz="98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2" name="down 5"/>
          <p:cNvSpPr txBox="1"/>
          <p:nvPr/>
        </p:nvSpPr>
        <p:spPr>
          <a:xfrm>
            <a:off x="5559552" y="560527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900" b="1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v</a:t>
            </a:r>
            <a:endParaRPr lang="en-US" sz="90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3" name="layer 6"/>
          <p:cNvSpPr/>
          <p:nvPr/>
        </p:nvSpPr>
        <p:spPr>
          <a:xfrm>
            <a:off x="868680" y="5733288"/>
            <a:ext cx="10405872" cy="694944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34" name="layer accent 6"/>
          <p:cNvSpPr/>
          <p:nvPr/>
        </p:nvSpPr>
        <p:spPr>
          <a:xfrm>
            <a:off x="868680" y="5733288"/>
            <a:ext cx="91440" cy="694944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35" name="layer title 6"/>
          <p:cNvSpPr txBox="1"/>
          <p:nvPr/>
        </p:nvSpPr>
        <p:spPr>
          <a:xfrm>
            <a:off x="1097280" y="5879592"/>
            <a:ext cx="2423160" cy="2286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1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Future Rialo service</a:t>
            </a:r>
            <a:endParaRPr lang="en-US" sz="11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6" name="layer body 6"/>
          <p:cNvSpPr txBox="1"/>
          <p:nvPr/>
        </p:nvSpPr>
        <p:spPr>
          <a:xfrm>
            <a:off x="3657600" y="5861303"/>
            <a:ext cx="713232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98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Node API -&gt; Rialo Rust microservice -&gt; rialo-cdk -&gt; Rialo devnet/mainnet.</a:t>
            </a:r>
            <a:endParaRPr lang="en-US" sz="98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7" name="footer"/>
          <p:cNvSpPr txBox="1"/>
          <p:nvPr/>
        </p:nvSpPr>
        <p:spPr>
          <a:xfrm>
            <a:off x="658368" y="6291072"/>
            <a:ext cx="77724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8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Product logic and chain adapter are deliberately separated  |  8/14</a:t>
            </a:r>
            <a:endParaRPr lang="en-US" sz="8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hat the Prototype Proves">
    <p:spTree>
      <p:nvGrpSpPr>
        <p:cNvPr id="1" name=""/>
        <p:cNvGrpSpPr/>
        <p:nvPr/>
      </p:nvGrpSpPr>
      <p:grpSpPr>
        <a:xfrm>
          <a:off x="0" y="0"/>
          <a:ext cx="12191999" cy="6858000"/>
          <a:chOff x="0" y="0"/>
          <a:chExt cx="12191999" cy="685800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EA580C"/>
          </a:solidFill>
          <a:ln>
            <a:noFill/>
          </a:ln>
        </p:spPr>
      </p:sp>
      <p:sp>
        <p:nvSpPr>
          <p:cNvPr id="4" name="kicker"/>
          <p:cNvSpPr txBox="1"/>
          <p:nvPr/>
        </p:nvSpPr>
        <p:spPr>
          <a:xfrm>
            <a:off x="676656" y="34747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900" b="1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SCOPE AND EVIDENCE</a:t>
            </a:r>
            <a:endParaRPr lang="en-US" sz="90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title"/>
          <p:cNvSpPr txBox="1"/>
          <p:nvPr/>
        </p:nvSpPr>
        <p:spPr>
          <a:xfrm>
            <a:off x="658368" y="621792"/>
            <a:ext cx="905256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2700" b="1" dirty="0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What the Prototype Proves</a:t>
            </a:r>
            <a:endParaRPr lang="en-US" sz="2700" dirty="0">
              <a:solidFill>
                <a:srgbClr val="10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number block"/>
          <p:cNvSpPr/>
          <p:nvPr/>
        </p:nvSpPr>
        <p:spPr>
          <a:xfrm>
            <a:off x="10652760" y="347472"/>
            <a:ext cx="749808" cy="384048"/>
          </a:xfrm>
          <a:prstGeom prst="rect">
            <a:avLst/>
          </a:prstGeom>
          <a:solidFill>
            <a:srgbClr val="EA580C"/>
          </a:solidFill>
          <a:ln>
            <a:noFill/>
          </a:ln>
        </p:spPr>
      </p:sp>
      <p:sp>
        <p:nvSpPr>
          <p:cNvPr id="7" name="number"/>
          <p:cNvSpPr txBox="1"/>
          <p:nvPr/>
        </p:nvSpPr>
        <p:spPr>
          <a:xfrm>
            <a:off x="10698480" y="411480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0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09</a:t>
            </a:r>
            <a:endParaRPr lang="en-US" sz="105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left panel"/>
          <p:cNvSpPr/>
          <p:nvPr/>
        </p:nvSpPr>
        <p:spPr>
          <a:xfrm>
            <a:off x="713232" y="1417320"/>
            <a:ext cx="489204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9" name="left accent"/>
          <p:cNvSpPr/>
          <p:nvPr/>
        </p:nvSpPr>
        <p:spPr>
          <a:xfrm>
            <a:off x="713232" y="1417320"/>
            <a:ext cx="91440" cy="4526280"/>
          </a:xfrm>
          <a:prstGeom prst="rect">
            <a:avLst/>
          </a:prstGeom>
          <a:solidFill>
            <a:srgbClr val="EA580C"/>
          </a:solidFill>
          <a:ln>
            <a:noFill/>
          </a:ln>
        </p:spPr>
      </p:sp>
      <p:sp>
        <p:nvSpPr>
          <p:cNvPr id="10" name="left title"/>
          <p:cNvSpPr txBox="1"/>
          <p:nvPr/>
        </p:nvSpPr>
        <p:spPr>
          <a:xfrm>
            <a:off x="960120" y="1691640"/>
            <a:ext cx="42976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4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What should be said clearly</a:t>
            </a:r>
            <a:endParaRPr lang="en-US" sz="14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left body"/>
          <p:cNvSpPr txBox="1"/>
          <p:nvPr/>
        </p:nvSpPr>
        <p:spPr>
          <a:xfrm>
            <a:off x="960120" y="2148840"/>
            <a:ext cx="4315968" cy="32004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12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- Wallets, faucet, balances, and transaction hashes are simulated.</a:t>
            </a:r>
            <a:endParaRPr lang="en-US" sz="112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  <a:p>
            <a:pPr algn="left"/>
            <a:r>
              <a:rPr lang="en-US" sz="112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- The app does not custody real assets and is not production-ready.</a:t>
            </a:r>
            <a:endParaRPr lang="en-US" sz="112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  <a:p>
            <a:pPr algn="left"/>
            <a:r>
              <a:rPr lang="en-US" sz="112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- The value is validating UX, state machine, verifier, and the Rialo adapter integration point.</a:t>
            </a:r>
            <a:endParaRPr lang="en-US" sz="112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card Real today"/>
          <p:cNvSpPr/>
          <p:nvPr/>
        </p:nvSpPr>
        <p:spPr>
          <a:xfrm>
            <a:off x="6080760" y="1417320"/>
            <a:ext cx="52578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13" name="card accent Real today"/>
          <p:cNvSpPr/>
          <p:nvPr/>
        </p:nvSpPr>
        <p:spPr>
          <a:xfrm>
            <a:off x="6080760" y="1417320"/>
            <a:ext cx="73152" cy="1078992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14" name="card title Real today"/>
          <p:cNvSpPr txBox="1"/>
          <p:nvPr/>
        </p:nvSpPr>
        <p:spPr>
          <a:xfrm>
            <a:off x="6227064" y="1563624"/>
            <a:ext cx="5001768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Real today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card body Real today"/>
          <p:cNvSpPr txBox="1"/>
          <p:nvPr/>
        </p:nvSpPr>
        <p:spPr>
          <a:xfrm>
            <a:off x="6227064" y="1920240"/>
            <a:ext cx="5001768" cy="512063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Express API, deal state machine, public GitHub PR verifier, storage layer, tests.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card Mocked today"/>
          <p:cNvSpPr/>
          <p:nvPr/>
        </p:nvSpPr>
        <p:spPr>
          <a:xfrm>
            <a:off x="6080760" y="2926080"/>
            <a:ext cx="52578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17" name="card accent Mocked today"/>
          <p:cNvSpPr/>
          <p:nvPr/>
        </p:nvSpPr>
        <p:spPr>
          <a:xfrm>
            <a:off x="6080760" y="2926080"/>
            <a:ext cx="73152" cy="1078992"/>
          </a:xfrm>
          <a:prstGeom prst="rect">
            <a:avLst/>
          </a:prstGeom>
          <a:solidFill>
            <a:srgbClr val="EA580C"/>
          </a:solidFill>
          <a:ln>
            <a:noFill/>
          </a:ln>
        </p:spPr>
      </p:sp>
      <p:sp>
        <p:nvSpPr>
          <p:cNvPr id="18" name="card title Mocked today"/>
          <p:cNvSpPr txBox="1"/>
          <p:nvPr/>
        </p:nvSpPr>
        <p:spPr>
          <a:xfrm>
            <a:off x="6227064" y="3072384"/>
            <a:ext cx="5001768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Mocked today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card body Mocked today"/>
          <p:cNvSpPr txBox="1"/>
          <p:nvPr/>
        </p:nvSpPr>
        <p:spPr>
          <a:xfrm>
            <a:off x="6227064" y="3429000"/>
            <a:ext cx="5001768" cy="512063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Wallet session, RIALO balance, escrow custody, Rialo transaction hash.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card Verified"/>
          <p:cNvSpPr/>
          <p:nvPr/>
        </p:nvSpPr>
        <p:spPr>
          <a:xfrm>
            <a:off x="6080760" y="4434840"/>
            <a:ext cx="52578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21" name="card accent Verified"/>
          <p:cNvSpPr/>
          <p:nvPr/>
        </p:nvSpPr>
        <p:spPr>
          <a:xfrm>
            <a:off x="6080760" y="4434840"/>
            <a:ext cx="73152" cy="1078992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22" name="card title Verified"/>
          <p:cNvSpPr txBox="1"/>
          <p:nvPr/>
        </p:nvSpPr>
        <p:spPr>
          <a:xfrm>
            <a:off x="6227064" y="4581144"/>
            <a:ext cx="5001768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Verified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card body Verified"/>
          <p:cNvSpPr txBox="1"/>
          <p:nvPr/>
        </p:nvSpPr>
        <p:spPr>
          <a:xfrm>
            <a:off x="6227064" y="4937759"/>
            <a:ext cx="5001768" cy="512063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Node built-in tests pass; build check pass; endpoint health smoke test pass.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footer"/>
          <p:cNvSpPr txBox="1"/>
          <p:nvPr/>
        </p:nvSpPr>
        <p:spPr>
          <a:xfrm>
            <a:off x="658368" y="6291072"/>
            <a:ext cx="77724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8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A defensible demo for technical review  |  9/14</a:t>
            </a:r>
            <a:endParaRPr lang="en-US" sz="8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ject Strengths">
    <p:spTree>
      <p:nvGrpSpPr>
        <p:cNvPr id="1" name=""/>
        <p:cNvGrpSpPr/>
        <p:nvPr/>
      </p:nvGrpSpPr>
      <p:grpSpPr>
        <a:xfrm>
          <a:off x="0" y="0"/>
          <a:ext cx="12191999" cy="6858000"/>
          <a:chOff x="0" y="0"/>
          <a:chExt cx="12191999" cy="685800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4" name="kicker"/>
          <p:cNvSpPr txBox="1"/>
          <p:nvPr/>
        </p:nvSpPr>
        <p:spPr>
          <a:xfrm>
            <a:off x="676656" y="34747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900" b="1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WHY IT IS COMPELLING</a:t>
            </a:r>
            <a:endParaRPr lang="en-US" sz="90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title"/>
          <p:cNvSpPr txBox="1"/>
          <p:nvPr/>
        </p:nvSpPr>
        <p:spPr>
          <a:xfrm>
            <a:off x="658368" y="621792"/>
            <a:ext cx="905256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2700" b="1" dirty="0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Project Strengths</a:t>
            </a:r>
            <a:endParaRPr lang="en-US" sz="2700" dirty="0">
              <a:solidFill>
                <a:srgbClr val="10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number block"/>
          <p:cNvSpPr/>
          <p:nvPr/>
        </p:nvSpPr>
        <p:spPr>
          <a:xfrm>
            <a:off x="10652760" y="347472"/>
            <a:ext cx="749808" cy="384048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7" name="number"/>
          <p:cNvSpPr txBox="1"/>
          <p:nvPr/>
        </p:nvSpPr>
        <p:spPr>
          <a:xfrm>
            <a:off x="10698480" y="411480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0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10</a:t>
            </a:r>
            <a:endParaRPr lang="en-US" sz="105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card Clear product wedge"/>
          <p:cNvSpPr/>
          <p:nvPr/>
        </p:nvSpPr>
        <p:spPr>
          <a:xfrm>
            <a:off x="713232" y="1508760"/>
            <a:ext cx="30175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9" name="card accent Clear product wedge"/>
          <p:cNvSpPr/>
          <p:nvPr/>
        </p:nvSpPr>
        <p:spPr>
          <a:xfrm>
            <a:off x="713232" y="1508760"/>
            <a:ext cx="73152" cy="164592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10" name="card title Clear product wedge"/>
          <p:cNvSpPr txBox="1"/>
          <p:nvPr/>
        </p:nvSpPr>
        <p:spPr>
          <a:xfrm>
            <a:off x="859536" y="1655063"/>
            <a:ext cx="2761487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Clear product wedge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card body Clear product wedge"/>
          <p:cNvSpPr txBox="1"/>
          <p:nvPr/>
        </p:nvSpPr>
        <p:spPr>
          <a:xfrm>
            <a:off x="859536" y="2011680"/>
            <a:ext cx="2761487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One sentence: pay only if the proof is verified.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card Machine-readable proof"/>
          <p:cNvSpPr/>
          <p:nvPr/>
        </p:nvSpPr>
        <p:spPr>
          <a:xfrm>
            <a:off x="4133087" y="1508760"/>
            <a:ext cx="30175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13" name="card accent Machine-readable proof"/>
          <p:cNvSpPr/>
          <p:nvPr/>
        </p:nvSpPr>
        <p:spPr>
          <a:xfrm>
            <a:off x="4133087" y="1508760"/>
            <a:ext cx="73152" cy="164592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4" name="card title Machine-readable proof"/>
          <p:cNvSpPr txBox="1"/>
          <p:nvPr/>
        </p:nvSpPr>
        <p:spPr>
          <a:xfrm>
            <a:off x="4279392" y="1655063"/>
            <a:ext cx="2761487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Machine-readable proof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card body Machine-readable proof"/>
          <p:cNvSpPr txBox="1"/>
          <p:nvPr/>
        </p:nvSpPr>
        <p:spPr>
          <a:xfrm>
            <a:off x="4279392" y="2011680"/>
            <a:ext cx="2761487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GitHub PR metadata is a focused first proof type.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card Strong state machine"/>
          <p:cNvSpPr/>
          <p:nvPr/>
        </p:nvSpPr>
        <p:spPr>
          <a:xfrm>
            <a:off x="7552944" y="1508760"/>
            <a:ext cx="30175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17" name="card accent Strong state machine"/>
          <p:cNvSpPr/>
          <p:nvPr/>
        </p:nvSpPr>
        <p:spPr>
          <a:xfrm>
            <a:off x="7552944" y="1508760"/>
            <a:ext cx="73152" cy="164592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18" name="card title Strong state machine"/>
          <p:cNvSpPr txBox="1"/>
          <p:nvPr/>
        </p:nvSpPr>
        <p:spPr>
          <a:xfrm>
            <a:off x="7699248" y="1655063"/>
            <a:ext cx="2761487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Strong state machine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card body Strong state machine"/>
          <p:cNvSpPr txBox="1"/>
          <p:nvPr/>
        </p:nvSpPr>
        <p:spPr>
          <a:xfrm>
            <a:off x="7699248" y="2011680"/>
            <a:ext cx="2761487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DRAFT -&gt; FUNDED -&gt; VERIFIED -&gt; RELEASED / REFUNDED.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card Audit-first model"/>
          <p:cNvSpPr/>
          <p:nvPr/>
        </p:nvSpPr>
        <p:spPr>
          <a:xfrm>
            <a:off x="713232" y="3803904"/>
            <a:ext cx="30175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21" name="card accent Audit-first model"/>
          <p:cNvSpPr/>
          <p:nvPr/>
        </p:nvSpPr>
        <p:spPr>
          <a:xfrm>
            <a:off x="713232" y="3803904"/>
            <a:ext cx="73152" cy="164592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2" name="card title Audit-first model"/>
          <p:cNvSpPr txBox="1"/>
          <p:nvPr/>
        </p:nvSpPr>
        <p:spPr>
          <a:xfrm>
            <a:off x="859536" y="3950208"/>
            <a:ext cx="2761487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Audit-first model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card body Audit-first model"/>
          <p:cNvSpPr txBox="1"/>
          <p:nvPr/>
        </p:nvSpPr>
        <p:spPr>
          <a:xfrm>
            <a:off x="859536" y="4306824"/>
            <a:ext cx="2761487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Proof hashes, tx hashes, and event trails support review.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card Expandable proof surface"/>
          <p:cNvSpPr/>
          <p:nvPr/>
        </p:nvSpPr>
        <p:spPr>
          <a:xfrm>
            <a:off x="4133087" y="3803904"/>
            <a:ext cx="30175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25" name="card accent Expandable proof surface"/>
          <p:cNvSpPr/>
          <p:nvPr/>
        </p:nvSpPr>
        <p:spPr>
          <a:xfrm>
            <a:off x="4133087" y="3803904"/>
            <a:ext cx="73152" cy="164592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6" name="card title Expandable proof surface"/>
          <p:cNvSpPr txBox="1"/>
          <p:nvPr/>
        </p:nvSpPr>
        <p:spPr>
          <a:xfrm>
            <a:off x="4279392" y="3950208"/>
            <a:ext cx="2761487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Expandable proof surface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card body Expandable proof surface"/>
          <p:cNvSpPr txBox="1"/>
          <p:nvPr/>
        </p:nvSpPr>
        <p:spPr>
          <a:xfrm>
            <a:off x="4279392" y="4306824"/>
            <a:ext cx="2761487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Issues, releases, invoices, delivery events, oracle data.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card Rialo-native path"/>
          <p:cNvSpPr/>
          <p:nvPr/>
        </p:nvSpPr>
        <p:spPr>
          <a:xfrm>
            <a:off x="7552944" y="3803904"/>
            <a:ext cx="30175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29" name="card accent Rialo-native path"/>
          <p:cNvSpPr/>
          <p:nvPr/>
        </p:nvSpPr>
        <p:spPr>
          <a:xfrm>
            <a:off x="7552944" y="3803904"/>
            <a:ext cx="73152" cy="1645920"/>
          </a:xfrm>
          <a:prstGeom prst="rect">
            <a:avLst/>
          </a:prstGeom>
          <a:solidFill>
            <a:srgbClr val="EA580C"/>
          </a:solidFill>
          <a:ln>
            <a:noFill/>
          </a:ln>
        </p:spPr>
      </p:sp>
      <p:sp>
        <p:nvSpPr>
          <p:cNvPr id="30" name="card title Rialo-native path"/>
          <p:cNvSpPr txBox="1"/>
          <p:nvPr/>
        </p:nvSpPr>
        <p:spPr>
          <a:xfrm>
            <a:off x="7699248" y="3950208"/>
            <a:ext cx="2761487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Rialo-native path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card body Rialo-native path"/>
          <p:cNvSpPr txBox="1"/>
          <p:nvPr/>
        </p:nvSpPr>
        <p:spPr>
          <a:xfrm>
            <a:off x="7699248" y="4306824"/>
            <a:ext cx="2761487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The adapter pattern makes the on-chain upgrade concrete.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2" name="footer"/>
          <p:cNvSpPr txBox="1"/>
          <p:nvPr/>
        </p:nvSpPr>
        <p:spPr>
          <a:xfrm>
            <a:off x="658368" y="6291072"/>
            <a:ext cx="77724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8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Built for a Web3 builder and product audience  |  10/14</a:t>
            </a:r>
            <a:endParaRPr lang="en-US" sz="8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ivate Repo: Access and Verifier">
    <p:spTree>
      <p:nvGrpSpPr>
        <p:cNvPr id="1" name=""/>
        <p:cNvGrpSpPr/>
        <p:nvPr/>
      </p:nvGrpSpPr>
      <p:grpSpPr>
        <a:xfrm>
          <a:off x="0" y="0"/>
          <a:ext cx="12191999" cy="6858000"/>
          <a:chOff x="0" y="0"/>
          <a:chExt cx="12191999" cy="685800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4" name="kicker"/>
          <p:cNvSpPr txBox="1"/>
          <p:nvPr/>
        </p:nvSpPr>
        <p:spPr>
          <a:xfrm>
            <a:off x="676656" y="34747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900" b="1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GITHUB VERIFICATION</a:t>
            </a:r>
            <a:endParaRPr lang="en-US" sz="90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title"/>
          <p:cNvSpPr txBox="1"/>
          <p:nvPr/>
        </p:nvSpPr>
        <p:spPr>
          <a:xfrm>
            <a:off x="658368" y="621792"/>
            <a:ext cx="905256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2700" b="1" dirty="0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Private Repo: Access and Verifier</a:t>
            </a:r>
            <a:endParaRPr lang="en-US" sz="2700" dirty="0">
              <a:solidFill>
                <a:srgbClr val="10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number block"/>
          <p:cNvSpPr/>
          <p:nvPr/>
        </p:nvSpPr>
        <p:spPr>
          <a:xfrm>
            <a:off x="10652760" y="347472"/>
            <a:ext cx="749808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7" name="number"/>
          <p:cNvSpPr txBox="1"/>
          <p:nvPr/>
        </p:nvSpPr>
        <p:spPr>
          <a:xfrm>
            <a:off x="10698480" y="411480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0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11</a:t>
            </a:r>
            <a:endParaRPr lang="en-US" sz="105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left panel"/>
          <p:cNvSpPr/>
          <p:nvPr/>
        </p:nvSpPr>
        <p:spPr>
          <a:xfrm>
            <a:off x="713232" y="1417320"/>
            <a:ext cx="4892040" cy="45262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9" name="left accent"/>
          <p:cNvSpPr/>
          <p:nvPr/>
        </p:nvSpPr>
        <p:spPr>
          <a:xfrm>
            <a:off x="713232" y="1417320"/>
            <a:ext cx="91440" cy="452628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0" name="left title"/>
          <p:cNvSpPr txBox="1"/>
          <p:nvPr/>
        </p:nvSpPr>
        <p:spPr>
          <a:xfrm>
            <a:off x="960120" y="1691640"/>
            <a:ext cx="42976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4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GitHub access happens before the deal</a:t>
            </a:r>
            <a:endParaRPr lang="en-US" sz="14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left body"/>
          <p:cNvSpPr txBox="1"/>
          <p:nvPr/>
        </p:nvSpPr>
        <p:spPr>
          <a:xfrm>
            <a:off x="960120" y="2148840"/>
            <a:ext cx="4315968" cy="320040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12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- The client invites the worker as a collaborator.</a:t>
            </a:r>
            <a:endParaRPr lang="en-US" sz="112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  <a:p>
            <a:pPr algn="left"/>
            <a:r>
              <a:rPr lang="en-US" sz="112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- Or adds the worker to an org/team with repo access.</a:t>
            </a:r>
            <a:endParaRPr lang="en-US" sz="112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  <a:p>
            <a:pPr algn="left"/>
            <a:r>
              <a:rPr lang="en-US" sz="112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- Or assigns work elsewhere and grants GitHub access separately.</a:t>
            </a:r>
            <a:endParaRPr lang="en-US" sz="112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  <a:p>
            <a:pPr algn="left"/>
            <a:r>
              <a:rPr lang="en-US" sz="112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- After scope, amount, and PR condition are agreed, the ProofPay deal is created.</a:t>
            </a:r>
            <a:endParaRPr lang="en-US" sz="112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card What ProofPay checks"/>
          <p:cNvSpPr/>
          <p:nvPr/>
        </p:nvSpPr>
        <p:spPr>
          <a:xfrm>
            <a:off x="6080760" y="1417320"/>
            <a:ext cx="52578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13" name="card accent What ProofPay checks"/>
          <p:cNvSpPr/>
          <p:nvPr/>
        </p:nvSpPr>
        <p:spPr>
          <a:xfrm>
            <a:off x="6080760" y="1417320"/>
            <a:ext cx="73152" cy="1078992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4" name="card title What ProofPay checks"/>
          <p:cNvSpPr txBox="1"/>
          <p:nvPr/>
        </p:nvSpPr>
        <p:spPr>
          <a:xfrm>
            <a:off x="6227064" y="1563624"/>
            <a:ext cx="5001768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What ProofPay checks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card body What ProofPay checks"/>
          <p:cNvSpPr txBox="1"/>
          <p:nvPr/>
        </p:nvSpPr>
        <p:spPr>
          <a:xfrm>
            <a:off x="6227064" y="1920240"/>
            <a:ext cx="5001768" cy="512063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owner, repo, pullNumber, merged_at, expectedAuthor, deadline.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card Completion signal"/>
          <p:cNvSpPr/>
          <p:nvPr/>
        </p:nvSpPr>
        <p:spPr>
          <a:xfrm>
            <a:off x="6080760" y="2926080"/>
            <a:ext cx="52578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17" name="card accent Completion signal"/>
          <p:cNvSpPr/>
          <p:nvPr/>
        </p:nvSpPr>
        <p:spPr>
          <a:xfrm>
            <a:off x="6080760" y="2926080"/>
            <a:ext cx="73152" cy="1078992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18" name="card title Completion signal"/>
          <p:cNvSpPr txBox="1"/>
          <p:nvPr/>
        </p:nvSpPr>
        <p:spPr>
          <a:xfrm>
            <a:off x="6227064" y="3072384"/>
            <a:ext cx="5001768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Completion signal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card body Completion signal"/>
          <p:cNvSpPr txBox="1"/>
          <p:nvPr/>
        </p:nvSpPr>
        <p:spPr>
          <a:xfrm>
            <a:off x="6227064" y="3429000"/>
            <a:ext cx="5001768" cy="512063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Do not release on commit alone. PR merged is stronger because it means the repo owner accepted the work.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card Private repo production"/>
          <p:cNvSpPr/>
          <p:nvPr/>
        </p:nvSpPr>
        <p:spPr>
          <a:xfrm>
            <a:off x="6080760" y="4434840"/>
            <a:ext cx="525780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21" name="card accent Private repo production"/>
          <p:cNvSpPr/>
          <p:nvPr/>
        </p:nvSpPr>
        <p:spPr>
          <a:xfrm>
            <a:off x="6080760" y="4434840"/>
            <a:ext cx="73152" cy="1078992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2" name="card title Private repo production"/>
          <p:cNvSpPr txBox="1"/>
          <p:nvPr/>
        </p:nvSpPr>
        <p:spPr>
          <a:xfrm>
            <a:off x="6227064" y="4581144"/>
            <a:ext cx="5001768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Private repo production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card body Private repo production"/>
          <p:cNvSpPr txBox="1"/>
          <p:nvPr/>
        </p:nvSpPr>
        <p:spPr>
          <a:xfrm>
            <a:off x="6227064" y="4937759"/>
            <a:ext cx="5001768" cy="512063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Use a GitHub App with scoped permissions to read PR metadata and publish only proofHash/result.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footer"/>
          <p:cNvSpPr txBox="1"/>
          <p:nvPr/>
        </p:nvSpPr>
        <p:spPr>
          <a:xfrm>
            <a:off x="658368" y="6291072"/>
            <a:ext cx="77724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8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ProofPay does not grant repo access; it verifies evidence after access has been granted  |  11/14</a:t>
            </a:r>
            <a:endParaRPr lang="en-US" sz="8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mpact and Use Cases">
    <p:spTree>
      <p:nvGrpSpPr>
        <p:cNvPr id="1" name=""/>
        <p:cNvGrpSpPr/>
        <p:nvPr/>
      </p:nvGrpSpPr>
      <p:grpSpPr>
        <a:xfrm>
          <a:off x="0" y="0"/>
          <a:ext cx="12191999" cy="6858000"/>
          <a:chOff x="0" y="0"/>
          <a:chExt cx="12191999" cy="685800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4" name="kicker"/>
          <p:cNvSpPr txBox="1"/>
          <p:nvPr/>
        </p:nvSpPr>
        <p:spPr>
          <a:xfrm>
            <a:off x="676656" y="34747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900" b="1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WHERE IT WORKS</a:t>
            </a:r>
            <a:endParaRPr lang="en-US" sz="90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title"/>
          <p:cNvSpPr txBox="1"/>
          <p:nvPr/>
        </p:nvSpPr>
        <p:spPr>
          <a:xfrm>
            <a:off x="658368" y="621792"/>
            <a:ext cx="905256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2700" b="1" dirty="0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Impact and Use Cases</a:t>
            </a:r>
            <a:endParaRPr lang="en-US" sz="2700" dirty="0">
              <a:solidFill>
                <a:srgbClr val="10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number block"/>
          <p:cNvSpPr/>
          <p:nvPr/>
        </p:nvSpPr>
        <p:spPr>
          <a:xfrm>
            <a:off x="10652760" y="347472"/>
            <a:ext cx="749808" cy="384048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7" name="number"/>
          <p:cNvSpPr txBox="1"/>
          <p:nvPr/>
        </p:nvSpPr>
        <p:spPr>
          <a:xfrm>
            <a:off x="10698480" y="411480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0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12</a:t>
            </a:r>
            <a:endParaRPr lang="en-US" sz="105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card Freelance engineering"/>
          <p:cNvSpPr/>
          <p:nvPr/>
        </p:nvSpPr>
        <p:spPr>
          <a:xfrm>
            <a:off x="713232" y="1508760"/>
            <a:ext cx="30175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9" name="card accent Freelance engineering"/>
          <p:cNvSpPr/>
          <p:nvPr/>
        </p:nvSpPr>
        <p:spPr>
          <a:xfrm>
            <a:off x="713232" y="1508760"/>
            <a:ext cx="73152" cy="164592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0" name="card title Freelance engineering"/>
          <p:cNvSpPr txBox="1"/>
          <p:nvPr/>
        </p:nvSpPr>
        <p:spPr>
          <a:xfrm>
            <a:off x="859536" y="1655063"/>
            <a:ext cx="2761487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Freelance engineering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card body Freelance engineering"/>
          <p:cNvSpPr txBox="1"/>
          <p:nvPr/>
        </p:nvSpPr>
        <p:spPr>
          <a:xfrm>
            <a:off x="859536" y="2011680"/>
            <a:ext cx="2761487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Pay by merged PR or completed milestone.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card DAO bounties"/>
          <p:cNvSpPr/>
          <p:nvPr/>
        </p:nvSpPr>
        <p:spPr>
          <a:xfrm>
            <a:off x="4133087" y="1508760"/>
            <a:ext cx="30175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13" name="card accent DAO bounties"/>
          <p:cNvSpPr/>
          <p:nvPr/>
        </p:nvSpPr>
        <p:spPr>
          <a:xfrm>
            <a:off x="4133087" y="1508760"/>
            <a:ext cx="73152" cy="1645920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14" name="card title DAO bounties"/>
          <p:cNvSpPr txBox="1"/>
          <p:nvPr/>
        </p:nvSpPr>
        <p:spPr>
          <a:xfrm>
            <a:off x="4279392" y="1655063"/>
            <a:ext cx="2761487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DAO bounties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card body DAO bounties"/>
          <p:cNvSpPr txBox="1"/>
          <p:nvPr/>
        </p:nvSpPr>
        <p:spPr>
          <a:xfrm>
            <a:off x="4279392" y="2011680"/>
            <a:ext cx="2761487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Fund the bounty upfront, release on public proof.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card Private repo work"/>
          <p:cNvSpPr/>
          <p:nvPr/>
        </p:nvSpPr>
        <p:spPr>
          <a:xfrm>
            <a:off x="7552944" y="1508760"/>
            <a:ext cx="30175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17" name="card accent Private repo work"/>
          <p:cNvSpPr/>
          <p:nvPr/>
        </p:nvSpPr>
        <p:spPr>
          <a:xfrm>
            <a:off x="7552944" y="1508760"/>
            <a:ext cx="73152" cy="1645920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18" name="card title Private repo work"/>
          <p:cNvSpPr txBox="1"/>
          <p:nvPr/>
        </p:nvSpPr>
        <p:spPr>
          <a:xfrm>
            <a:off x="7699248" y="1655063"/>
            <a:ext cx="2761487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Private repo work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9" name="card body Private repo work"/>
          <p:cNvSpPr txBox="1"/>
          <p:nvPr/>
        </p:nvSpPr>
        <p:spPr>
          <a:xfrm>
            <a:off x="7699248" y="2011680"/>
            <a:ext cx="2761487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A GitHub App reads metadata and publishes proof hash/result only.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0" name="card Agency milestones"/>
          <p:cNvSpPr/>
          <p:nvPr/>
        </p:nvSpPr>
        <p:spPr>
          <a:xfrm>
            <a:off x="713232" y="3803904"/>
            <a:ext cx="30175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21" name="card accent Agency milestones"/>
          <p:cNvSpPr/>
          <p:nvPr/>
        </p:nvSpPr>
        <p:spPr>
          <a:xfrm>
            <a:off x="713232" y="3803904"/>
            <a:ext cx="73152" cy="1645920"/>
          </a:xfrm>
          <a:prstGeom prst="rect">
            <a:avLst/>
          </a:prstGeom>
          <a:solidFill>
            <a:srgbClr val="EA580C"/>
          </a:solidFill>
          <a:ln>
            <a:noFill/>
          </a:ln>
        </p:spPr>
      </p:sp>
      <p:sp>
        <p:nvSpPr>
          <p:cNvPr id="22" name="card title Agency milestones"/>
          <p:cNvSpPr txBox="1"/>
          <p:nvPr/>
        </p:nvSpPr>
        <p:spPr>
          <a:xfrm>
            <a:off x="859536" y="3950208"/>
            <a:ext cx="2761487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Agency milestones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card body Agency milestones"/>
          <p:cNvSpPr txBox="1"/>
          <p:nvPr/>
        </p:nvSpPr>
        <p:spPr>
          <a:xfrm>
            <a:off x="859536" y="4306824"/>
            <a:ext cx="2761487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Use multiple smaller escrows instead of releasing the whole budget.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4" name="card Invoice / delivery proof"/>
          <p:cNvSpPr/>
          <p:nvPr/>
        </p:nvSpPr>
        <p:spPr>
          <a:xfrm>
            <a:off x="4133087" y="3803904"/>
            <a:ext cx="30175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25" name="card accent Invoice / delivery proof"/>
          <p:cNvSpPr/>
          <p:nvPr/>
        </p:nvSpPr>
        <p:spPr>
          <a:xfrm>
            <a:off x="4133087" y="3803904"/>
            <a:ext cx="73152" cy="1645920"/>
          </a:xfrm>
          <a:prstGeom prst="rect">
            <a:avLst/>
          </a:prstGeom>
          <a:solidFill>
            <a:srgbClr val="D97706"/>
          </a:solidFill>
          <a:ln>
            <a:noFill/>
          </a:ln>
        </p:spPr>
      </p:sp>
      <p:sp>
        <p:nvSpPr>
          <p:cNvPr id="26" name="card title Invoice / delivery proof"/>
          <p:cNvSpPr txBox="1"/>
          <p:nvPr/>
        </p:nvSpPr>
        <p:spPr>
          <a:xfrm>
            <a:off x="4279392" y="3950208"/>
            <a:ext cx="2761487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Invoice / delivery proof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card body Invoice / delivery proof"/>
          <p:cNvSpPr txBox="1"/>
          <p:nvPr/>
        </p:nvSpPr>
        <p:spPr>
          <a:xfrm>
            <a:off x="4279392" y="4306824"/>
            <a:ext cx="2761487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Extend beyond GitHub through APIs or oracle feeds.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card Enterprise workflow"/>
          <p:cNvSpPr/>
          <p:nvPr/>
        </p:nvSpPr>
        <p:spPr>
          <a:xfrm>
            <a:off x="7552944" y="3803904"/>
            <a:ext cx="301752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29" name="card accent Enterprise workflow"/>
          <p:cNvSpPr/>
          <p:nvPr/>
        </p:nvSpPr>
        <p:spPr>
          <a:xfrm>
            <a:off x="7552944" y="3803904"/>
            <a:ext cx="73152" cy="1645920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30" name="card title Enterprise workflow"/>
          <p:cNvSpPr txBox="1"/>
          <p:nvPr/>
        </p:nvSpPr>
        <p:spPr>
          <a:xfrm>
            <a:off x="7699248" y="3950208"/>
            <a:ext cx="2761487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3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Enterprise workflow</a:t>
            </a:r>
            <a:endParaRPr lang="en-US" sz="13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card body Enterprise workflow"/>
          <p:cNvSpPr txBox="1"/>
          <p:nvPr/>
        </p:nvSpPr>
        <p:spPr>
          <a:xfrm>
            <a:off x="7699248" y="4306824"/>
            <a:ext cx="2761487" cy="107899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0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Audit, policy, deadlines, and dispute paths become explicit.</a:t>
            </a:r>
            <a:endParaRPr lang="en-US" sz="10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2" name="footer"/>
          <p:cNvSpPr txBox="1"/>
          <p:nvPr/>
        </p:nvSpPr>
        <p:spPr>
          <a:xfrm>
            <a:off x="658368" y="6291072"/>
            <a:ext cx="77724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8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Efficiency comes from fewer disputes and less manual settlement  |  12/14</a:t>
            </a:r>
            <a:endParaRPr lang="en-US" sz="8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duction Roadmap">
    <p:spTree>
      <p:nvGrpSpPr>
        <p:cNvPr id="1" name=""/>
        <p:cNvGrpSpPr/>
        <p:nvPr/>
      </p:nvGrpSpPr>
      <p:grpSpPr>
        <a:xfrm>
          <a:off x="0" y="0"/>
          <a:ext cx="12191999" cy="6858000"/>
          <a:chOff x="0" y="0"/>
          <a:chExt cx="12191999" cy="685800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1999" cy="128016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4" name="kicker"/>
          <p:cNvSpPr txBox="1"/>
          <p:nvPr/>
        </p:nvSpPr>
        <p:spPr>
          <a:xfrm>
            <a:off x="676656" y="34747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900" b="1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NEXT STEPS</a:t>
            </a:r>
            <a:endParaRPr lang="en-US" sz="90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5" name="title"/>
          <p:cNvSpPr txBox="1"/>
          <p:nvPr/>
        </p:nvSpPr>
        <p:spPr>
          <a:xfrm>
            <a:off x="658368" y="621792"/>
            <a:ext cx="905256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2700" b="1" dirty="0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Production Roadmap</a:t>
            </a:r>
            <a:endParaRPr lang="en-US" sz="2700" dirty="0">
              <a:solidFill>
                <a:srgbClr val="101828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number block"/>
          <p:cNvSpPr/>
          <p:nvPr/>
        </p:nvSpPr>
        <p:spPr>
          <a:xfrm>
            <a:off x="10652760" y="347472"/>
            <a:ext cx="749808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7" name="number"/>
          <p:cNvSpPr txBox="1"/>
          <p:nvPr/>
        </p:nvSpPr>
        <p:spPr>
          <a:xfrm>
            <a:off x="10698480" y="411480"/>
            <a:ext cx="658368" cy="20116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0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13</a:t>
            </a:r>
            <a:endParaRPr lang="en-US" sz="105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step 1"/>
          <p:cNvSpPr/>
          <p:nvPr/>
        </p:nvSpPr>
        <p:spPr>
          <a:xfrm>
            <a:off x="685800" y="1874519"/>
            <a:ext cx="1572768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9" name="step bar 1"/>
          <p:cNvSpPr/>
          <p:nvPr/>
        </p:nvSpPr>
        <p:spPr>
          <a:xfrm>
            <a:off x="685800" y="1874519"/>
            <a:ext cx="1572768" cy="146304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10" name="step title 1"/>
          <p:cNvSpPr txBox="1"/>
          <p:nvPr/>
        </p:nvSpPr>
        <p:spPr>
          <a:xfrm>
            <a:off x="777240" y="2157984"/>
            <a:ext cx="1389888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0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Wallet</a:t>
            </a:r>
            <a:endParaRPr lang="en-US" sz="10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step body 1"/>
          <p:cNvSpPr txBox="1"/>
          <p:nvPr/>
        </p:nvSpPr>
        <p:spPr>
          <a:xfrm>
            <a:off x="795528" y="2532887"/>
            <a:ext cx="1353312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78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Real signing</a:t>
            </a:r>
            <a:endParaRPr lang="en-US" sz="78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arrow 1"/>
          <p:cNvSpPr txBox="1"/>
          <p:nvPr/>
        </p:nvSpPr>
        <p:spPr>
          <a:xfrm>
            <a:off x="2331720" y="2331720"/>
            <a:ext cx="32918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200" b="1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-&gt;</a:t>
            </a:r>
            <a:endParaRPr lang="en-US" sz="120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step 2"/>
          <p:cNvSpPr/>
          <p:nvPr/>
        </p:nvSpPr>
        <p:spPr>
          <a:xfrm>
            <a:off x="2578608" y="1874519"/>
            <a:ext cx="1572768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14" name="step bar 2"/>
          <p:cNvSpPr/>
          <p:nvPr/>
        </p:nvSpPr>
        <p:spPr>
          <a:xfrm>
            <a:off x="2578608" y="1874519"/>
            <a:ext cx="1572768" cy="146304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15" name="step title 2"/>
          <p:cNvSpPr txBox="1"/>
          <p:nvPr/>
        </p:nvSpPr>
        <p:spPr>
          <a:xfrm>
            <a:off x="2670048" y="2157984"/>
            <a:ext cx="1389888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0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Storage</a:t>
            </a:r>
            <a:endParaRPr lang="en-US" sz="10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6" name="step body 2"/>
          <p:cNvSpPr txBox="1"/>
          <p:nvPr/>
        </p:nvSpPr>
        <p:spPr>
          <a:xfrm>
            <a:off x="2688336" y="2532887"/>
            <a:ext cx="1353312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78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KV / DB</a:t>
            </a:r>
            <a:endParaRPr lang="en-US" sz="78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7" name="arrow 2"/>
          <p:cNvSpPr txBox="1"/>
          <p:nvPr/>
        </p:nvSpPr>
        <p:spPr>
          <a:xfrm>
            <a:off x="4224528" y="2331720"/>
            <a:ext cx="32918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200" b="1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-&gt;</a:t>
            </a:r>
            <a:endParaRPr lang="en-US" sz="120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8" name="step 3"/>
          <p:cNvSpPr/>
          <p:nvPr/>
        </p:nvSpPr>
        <p:spPr>
          <a:xfrm>
            <a:off x="4471416" y="1874519"/>
            <a:ext cx="1572768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19" name="step bar 3"/>
          <p:cNvSpPr/>
          <p:nvPr/>
        </p:nvSpPr>
        <p:spPr>
          <a:xfrm>
            <a:off x="4471416" y="1874519"/>
            <a:ext cx="1572768" cy="146304"/>
          </a:xfrm>
          <a:prstGeom prst="rect">
            <a:avLst/>
          </a:prstGeom>
          <a:solidFill>
            <a:srgbClr val="7C3AED"/>
          </a:solidFill>
          <a:ln>
            <a:noFill/>
          </a:ln>
        </p:spPr>
      </p:sp>
      <p:sp>
        <p:nvSpPr>
          <p:cNvPr id="20" name="step title 3"/>
          <p:cNvSpPr txBox="1"/>
          <p:nvPr/>
        </p:nvSpPr>
        <p:spPr>
          <a:xfrm>
            <a:off x="4562855" y="2157984"/>
            <a:ext cx="1389888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0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GitHub App</a:t>
            </a:r>
            <a:endParaRPr lang="en-US" sz="10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1" name="step body 3"/>
          <p:cNvSpPr txBox="1"/>
          <p:nvPr/>
        </p:nvSpPr>
        <p:spPr>
          <a:xfrm>
            <a:off x="4581144" y="2532887"/>
            <a:ext cx="1353312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78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Private repos</a:t>
            </a:r>
            <a:endParaRPr lang="en-US" sz="78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2" name="arrow 3"/>
          <p:cNvSpPr txBox="1"/>
          <p:nvPr/>
        </p:nvSpPr>
        <p:spPr>
          <a:xfrm>
            <a:off x="6117336" y="2331720"/>
            <a:ext cx="32918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200" b="1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-&gt;</a:t>
            </a:r>
            <a:endParaRPr lang="en-US" sz="120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step 4"/>
          <p:cNvSpPr/>
          <p:nvPr/>
        </p:nvSpPr>
        <p:spPr>
          <a:xfrm>
            <a:off x="6364223" y="1874519"/>
            <a:ext cx="1572768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24" name="step bar 4"/>
          <p:cNvSpPr/>
          <p:nvPr/>
        </p:nvSpPr>
        <p:spPr>
          <a:xfrm>
            <a:off x="6364223" y="1874519"/>
            <a:ext cx="1572768" cy="146304"/>
          </a:xfrm>
          <a:prstGeom prst="rect">
            <a:avLst/>
          </a:prstGeom>
          <a:solidFill>
            <a:srgbClr val="16A34A"/>
          </a:solidFill>
          <a:ln>
            <a:noFill/>
          </a:ln>
        </p:spPr>
      </p:sp>
      <p:sp>
        <p:nvSpPr>
          <p:cNvPr id="25" name="step title 4"/>
          <p:cNvSpPr txBox="1"/>
          <p:nvPr/>
        </p:nvSpPr>
        <p:spPr>
          <a:xfrm>
            <a:off x="6455663" y="2157984"/>
            <a:ext cx="1389888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0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Rialo</a:t>
            </a:r>
            <a:endParaRPr lang="en-US" sz="10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6" name="step body 4"/>
          <p:cNvSpPr txBox="1"/>
          <p:nvPr/>
        </p:nvSpPr>
        <p:spPr>
          <a:xfrm>
            <a:off x="6473951" y="2532887"/>
            <a:ext cx="1353312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78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Real adapter</a:t>
            </a:r>
            <a:endParaRPr lang="en-US" sz="78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7" name="arrow 4"/>
          <p:cNvSpPr txBox="1"/>
          <p:nvPr/>
        </p:nvSpPr>
        <p:spPr>
          <a:xfrm>
            <a:off x="8010144" y="2331720"/>
            <a:ext cx="32918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200" b="1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-&gt;</a:t>
            </a:r>
            <a:endParaRPr lang="en-US" sz="120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8" name="step 5"/>
          <p:cNvSpPr/>
          <p:nvPr/>
        </p:nvSpPr>
        <p:spPr>
          <a:xfrm>
            <a:off x="8257031" y="1874519"/>
            <a:ext cx="1572768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29" name="step bar 5"/>
          <p:cNvSpPr/>
          <p:nvPr/>
        </p:nvSpPr>
        <p:spPr>
          <a:xfrm>
            <a:off x="8257031" y="1874519"/>
            <a:ext cx="1572768" cy="146304"/>
          </a:xfrm>
          <a:prstGeom prst="rect">
            <a:avLst/>
          </a:prstGeom>
          <a:solidFill>
            <a:srgbClr val="EA580C"/>
          </a:solidFill>
          <a:ln>
            <a:noFill/>
          </a:ln>
        </p:spPr>
      </p:sp>
      <p:sp>
        <p:nvSpPr>
          <p:cNvPr id="30" name="step title 5"/>
          <p:cNvSpPr txBox="1"/>
          <p:nvPr/>
        </p:nvSpPr>
        <p:spPr>
          <a:xfrm>
            <a:off x="8348471" y="2157984"/>
            <a:ext cx="1389888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0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Policy</a:t>
            </a:r>
            <a:endParaRPr lang="en-US" sz="10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1" name="step body 5"/>
          <p:cNvSpPr txBox="1"/>
          <p:nvPr/>
        </p:nvSpPr>
        <p:spPr>
          <a:xfrm>
            <a:off x="8366759" y="2532887"/>
            <a:ext cx="1353312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78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Roles + auth</a:t>
            </a:r>
            <a:endParaRPr lang="en-US" sz="78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2" name="arrow 5"/>
          <p:cNvSpPr txBox="1"/>
          <p:nvPr/>
        </p:nvSpPr>
        <p:spPr>
          <a:xfrm>
            <a:off x="9902952" y="2331720"/>
            <a:ext cx="329184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200" b="1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-&gt;</a:t>
            </a:r>
            <a:endParaRPr lang="en-US" sz="120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3" name="step 6"/>
          <p:cNvSpPr/>
          <p:nvPr/>
        </p:nvSpPr>
        <p:spPr>
          <a:xfrm>
            <a:off x="10149840" y="1874519"/>
            <a:ext cx="1572768" cy="1243584"/>
          </a:xfrm>
          <a:prstGeom prst="rect">
            <a:avLst/>
          </a:prstGeom>
          <a:solidFill>
            <a:srgbClr val="FFFFFF"/>
          </a:solidFill>
          <a:ln w="9525">
            <a:solidFill>
              <a:srgbClr val="D0D5DD"/>
            </a:solidFill>
          </a:ln>
        </p:spPr>
      </p:sp>
      <p:sp>
        <p:nvSpPr>
          <p:cNvPr id="34" name="step bar 6"/>
          <p:cNvSpPr/>
          <p:nvPr/>
        </p:nvSpPr>
        <p:spPr>
          <a:xfrm>
            <a:off x="10149840" y="1874519"/>
            <a:ext cx="1572768" cy="146304"/>
          </a:xfrm>
          <a:prstGeom prst="rect">
            <a:avLst/>
          </a:prstGeom>
          <a:solidFill>
            <a:srgbClr val="E11D48"/>
          </a:solidFill>
          <a:ln>
            <a:noFill/>
          </a:ln>
        </p:spPr>
      </p:sp>
      <p:sp>
        <p:nvSpPr>
          <p:cNvPr id="35" name="step title 6"/>
          <p:cNvSpPr txBox="1"/>
          <p:nvPr/>
        </p:nvSpPr>
        <p:spPr>
          <a:xfrm>
            <a:off x="10241280" y="2157984"/>
            <a:ext cx="1389888" cy="23774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05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Security</a:t>
            </a:r>
            <a:endParaRPr lang="en-US" sz="105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6" name="step body 6"/>
          <p:cNvSpPr txBox="1"/>
          <p:nvPr/>
        </p:nvSpPr>
        <p:spPr>
          <a:xfrm>
            <a:off x="10259567" y="2532887"/>
            <a:ext cx="1353312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78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Audit + dispute</a:t>
            </a:r>
            <a:endParaRPr lang="en-US" sz="78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7" name="note"/>
          <p:cNvSpPr/>
          <p:nvPr/>
        </p:nvSpPr>
        <p:spPr>
          <a:xfrm>
            <a:off x="914400" y="4251960"/>
            <a:ext cx="10058400" cy="822960"/>
          </a:xfrm>
          <a:prstGeom prst="rect">
            <a:avLst/>
          </a:prstGeom>
          <a:solidFill>
            <a:srgbClr val="ECFDF3"/>
          </a:solidFill>
          <a:ln w="9525">
            <a:solidFill>
              <a:srgbClr val="ABEFC6"/>
            </a:solidFill>
          </a:ln>
        </p:spPr>
      </p:sp>
      <p:sp>
        <p:nvSpPr>
          <p:cNvPr id="38" name="note text"/>
          <p:cNvSpPr txBox="1"/>
          <p:nvPr/>
        </p:nvSpPr>
        <p:spPr>
          <a:xfrm>
            <a:off x="1051560" y="4443984"/>
            <a:ext cx="9738360" cy="329184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center"/>
            <a:r>
              <a:rPr lang="en-US" sz="1300" b="1" dirty="0">
                <a:solidFill>
                  <a:srgbClr val="101828"/>
                </a:solidFill>
                <a:latin typeface="Aptos"/>
                <a:ea typeface="Aptos"/>
                <a:cs typeface="Aptos"/>
              </a:rPr>
              <a:t>The production MVP should stay focused on GitHub PR escrow before adding more proof types.</a:t>
            </a:r>
            <a:endParaRPr lang="en-US" sz="1300" dirty="0">
              <a:solidFill>
                <a:srgbClr val="10182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39" name="footer"/>
          <p:cNvSpPr txBox="1"/>
          <p:nvPr/>
        </p:nvSpPr>
        <p:spPr>
          <a:xfrm>
            <a:off x="658368" y="6291072"/>
            <a:ext cx="77724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850" b="0" dirty="0">
                <a:solidFill>
                  <a:srgbClr val="475467"/>
                </a:solidFill>
                <a:latin typeface="Aptos"/>
                <a:ea typeface="Aptos"/>
                <a:cs typeface="Aptos"/>
              </a:rPr>
              <a:t>From prototype to Rialo-native escrow  |  13/14</a:t>
            </a:r>
            <a:endParaRPr lang="en-US" sz="850" dirty="0">
              <a:solidFill>
                <a:srgbClr val="475467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nclusion">
    <p:spTree>
      <p:nvGrpSpPr>
        <p:cNvPr id="1" name=""/>
        <p:cNvGrpSpPr/>
        <p:nvPr/>
      </p:nvGrpSpPr>
      <p:grpSpPr>
        <a:xfrm>
          <a:off x="0" y="0"/>
          <a:ext cx="12191999" cy="6858000"/>
          <a:chOff x="0" y="0"/>
          <a:chExt cx="12191999" cy="685800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</p:sp>
      <p:sp>
        <p:nvSpPr>
          <p:cNvPr id="3" name="top accent"/>
          <p:cNvSpPr/>
          <p:nvPr/>
        </p:nvSpPr>
        <p:spPr>
          <a:xfrm>
            <a:off x="0" y="0"/>
            <a:ext cx="12191999" cy="146304"/>
          </a:xfrm>
          <a:prstGeom prst="rect">
            <a:avLst/>
          </a:prstGeom>
          <a:solidFill>
            <a:srgbClr val="0F766E"/>
          </a:solidFill>
          <a:ln>
            <a:noFill/>
          </a:ln>
        </p:spPr>
      </p:sp>
      <p:sp>
        <p:nvSpPr>
          <p:cNvPr id="4" name="title"/>
          <p:cNvSpPr txBox="1"/>
          <p:nvPr/>
        </p:nvSpPr>
        <p:spPr>
          <a:xfrm>
            <a:off x="713232" y="694944"/>
            <a:ext cx="969264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3000" b="1" dirty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Conclusion</a:t>
            </a:r>
            <a:endParaRPr lang="en-US" sz="3000" dirty="0">
              <a:solidFill>
                <a:srgbClr val="FFFFFF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5" name="closing"/>
          <p:cNvSpPr txBox="1"/>
          <p:nvPr/>
        </p:nvSpPr>
        <p:spPr>
          <a:xfrm>
            <a:off x="749808" y="1508760"/>
            <a:ext cx="1014984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550" b="1" dirty="0">
                <a:solidFill>
                  <a:srgbClr val="E2E8F0"/>
                </a:solidFill>
                <a:latin typeface="Aptos"/>
                <a:ea typeface="Aptos"/>
                <a:cs typeface="Aptos"/>
              </a:rPr>
              <a:t>ProofPay is a natural Rialo use case: real-world proof, payment workflow, privacy-aware verification, and automatable settlement.</a:t>
            </a:r>
            <a:endParaRPr lang="en-US" sz="1550" dirty="0">
              <a:solidFill>
                <a:srgbClr val="E2E8F0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demo box"/>
          <p:cNvSpPr/>
          <p:nvPr/>
        </p:nvSpPr>
        <p:spPr>
          <a:xfrm>
            <a:off x="749808" y="2816352"/>
            <a:ext cx="5212080" cy="2103120"/>
          </a:xfrm>
          <a:prstGeom prst="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</p:sp>
      <p:sp>
        <p:nvSpPr>
          <p:cNvPr id="7" name="demo title"/>
          <p:cNvSpPr txBox="1"/>
          <p:nvPr/>
        </p:nvSpPr>
        <p:spPr>
          <a:xfrm>
            <a:off x="960120" y="3017520"/>
            <a:ext cx="46634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2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5-minute demo</a:t>
            </a:r>
            <a:endParaRPr lang="en-US" sz="125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demo body"/>
          <p:cNvSpPr txBox="1"/>
          <p:nvPr/>
        </p:nvSpPr>
        <p:spPr>
          <a:xfrm>
            <a:off x="960120" y="3456432"/>
            <a:ext cx="4709160" cy="10972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950" b="0" dirty="0">
                <a:solidFill>
                  <a:srgbClr val="CBD5E1"/>
                </a:solidFill>
                <a:latin typeface="Aptos"/>
                <a:ea typeface="Aptos"/>
                <a:cs typeface="Aptos"/>
              </a:rPr>
              <a:t>1. Connect wallet + faucet</a:t>
            </a:r>
            <a:endParaRPr lang="en-US" sz="950" dirty="0">
              <a:solidFill>
                <a:srgbClr val="CBD5E1"/>
              </a:solidFill>
              <a:latin typeface="Aptos"/>
              <a:ea typeface="Aptos"/>
              <a:cs typeface="Aptos"/>
            </a:endParaRPr>
          </a:p>
          <a:p>
            <a:pPr algn="left"/>
            <a:r>
              <a:rPr lang="en-US" sz="950" b="0" dirty="0">
                <a:solidFill>
                  <a:srgbClr val="CBD5E1"/>
                </a:solidFill>
                <a:latin typeface="Aptos"/>
                <a:ea typeface="Aptos"/>
                <a:cs typeface="Aptos"/>
              </a:rPr>
              <a:t>2. Create GitHub escrow</a:t>
            </a:r>
            <a:endParaRPr lang="en-US" sz="950" dirty="0">
              <a:solidFill>
                <a:srgbClr val="CBD5E1"/>
              </a:solidFill>
              <a:latin typeface="Aptos"/>
              <a:ea typeface="Aptos"/>
              <a:cs typeface="Aptos"/>
            </a:endParaRPr>
          </a:p>
          <a:p>
            <a:pPr algn="left"/>
            <a:r>
              <a:rPr lang="en-US" sz="950" b="0" dirty="0">
                <a:solidFill>
                  <a:srgbClr val="CBD5E1"/>
                </a:solidFill>
                <a:latin typeface="Aptos"/>
                <a:ea typeface="Aptos"/>
                <a:cs typeface="Aptos"/>
              </a:rPr>
              <a:t>3. Fund RIALO</a:t>
            </a:r>
            <a:endParaRPr lang="en-US" sz="950" dirty="0">
              <a:solidFill>
                <a:srgbClr val="CBD5E1"/>
              </a:solidFill>
              <a:latin typeface="Aptos"/>
              <a:ea typeface="Aptos"/>
              <a:cs typeface="Aptos"/>
            </a:endParaRPr>
          </a:p>
          <a:p>
            <a:pPr algn="left"/>
            <a:r>
              <a:rPr lang="en-US" sz="950" b="0" dirty="0">
                <a:solidFill>
                  <a:srgbClr val="CBD5E1"/>
                </a:solidFill>
                <a:latin typeface="Aptos"/>
                <a:ea typeface="Aptos"/>
                <a:cs typeface="Aptos"/>
              </a:rPr>
              <a:t>4. Verify PR proof</a:t>
            </a:r>
            <a:endParaRPr lang="en-US" sz="950" dirty="0">
              <a:solidFill>
                <a:srgbClr val="CBD5E1"/>
              </a:solidFill>
              <a:latin typeface="Aptos"/>
              <a:ea typeface="Aptos"/>
              <a:cs typeface="Aptos"/>
            </a:endParaRPr>
          </a:p>
          <a:p>
            <a:pPr algn="left"/>
            <a:r>
              <a:rPr lang="en-US" sz="950" b="0" dirty="0">
                <a:solidFill>
                  <a:srgbClr val="CBD5E1"/>
                </a:solidFill>
                <a:latin typeface="Aptos"/>
                <a:ea typeface="Aptos"/>
                <a:cs typeface="Aptos"/>
              </a:rPr>
              <a:t>5. Release or refund</a:t>
            </a:r>
            <a:endParaRPr lang="en-US" sz="950" dirty="0">
              <a:solidFill>
                <a:srgbClr val="CBD5E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source box"/>
          <p:cNvSpPr/>
          <p:nvPr/>
        </p:nvSpPr>
        <p:spPr>
          <a:xfrm>
            <a:off x="6327648" y="2816352"/>
            <a:ext cx="5074920" cy="2103120"/>
          </a:xfrm>
          <a:prstGeom prst="rect">
            <a:avLst/>
          </a:prstGeom>
          <a:solidFill>
            <a:srgbClr val="111827"/>
          </a:solidFill>
          <a:ln w="9525">
            <a:solidFill>
              <a:srgbClr val="334155"/>
            </a:solidFill>
          </a:ln>
        </p:spPr>
      </p:sp>
      <p:sp>
        <p:nvSpPr>
          <p:cNvPr id="10" name="source title"/>
          <p:cNvSpPr txBox="1"/>
          <p:nvPr/>
        </p:nvSpPr>
        <p:spPr>
          <a:xfrm>
            <a:off x="6528816" y="3017520"/>
            <a:ext cx="46177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12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References</a:t>
            </a:r>
            <a:endParaRPr lang="en-US" sz="1250" dirty="0">
              <a:solidFill>
                <a:srgbClr val="FFFFFF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source body"/>
          <p:cNvSpPr txBox="1"/>
          <p:nvPr/>
        </p:nvSpPr>
        <p:spPr>
          <a:xfrm>
            <a:off x="6528816" y="3456432"/>
            <a:ext cx="4663440" cy="1097280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850" b="0" dirty="0">
                <a:solidFill>
                  <a:srgbClr val="CBD5E1"/>
                </a:solidFill>
                <a:latin typeface="Aptos"/>
                <a:ea typeface="Aptos"/>
                <a:cs typeface="Aptos"/>
              </a:rPr>
              <a:t>learn.rialo.io</a:t>
            </a:r>
            <a:endParaRPr lang="en-US" sz="850" dirty="0">
              <a:solidFill>
                <a:srgbClr val="CBD5E1"/>
              </a:solidFill>
              <a:latin typeface="Aptos"/>
              <a:ea typeface="Aptos"/>
              <a:cs typeface="Aptos"/>
            </a:endParaRPr>
          </a:p>
          <a:p>
            <a:pPr algn="left"/>
            <a:r>
              <a:rPr lang="en-US" sz="850" b="0" dirty="0">
                <a:solidFill>
                  <a:srgbClr val="CBD5E1"/>
                </a:solidFill>
                <a:latin typeface="Aptos"/>
                <a:ea typeface="Aptos"/>
                <a:cs typeface="Aptos"/>
              </a:rPr>
              <a:t>learn.rialo.io/tutorials/reactive</a:t>
            </a:r>
            <a:endParaRPr lang="en-US" sz="850" dirty="0">
              <a:solidFill>
                <a:srgbClr val="CBD5E1"/>
              </a:solidFill>
              <a:latin typeface="Aptos"/>
              <a:ea typeface="Aptos"/>
              <a:cs typeface="Aptos"/>
            </a:endParaRPr>
          </a:p>
          <a:p>
            <a:pPr algn="left"/>
            <a:r>
              <a:rPr lang="en-US" sz="850" b="0" dirty="0">
                <a:solidFill>
                  <a:srgbClr val="CBD5E1"/>
                </a:solidFill>
                <a:latin typeface="Aptos"/>
                <a:ea typeface="Aptos"/>
                <a:cs typeface="Aptos"/>
              </a:rPr>
              <a:t>learn.rialo.io/tutorials/async</a:t>
            </a:r>
            <a:endParaRPr lang="en-US" sz="850" dirty="0">
              <a:solidFill>
                <a:srgbClr val="CBD5E1"/>
              </a:solidFill>
              <a:latin typeface="Aptos"/>
              <a:ea typeface="Aptos"/>
              <a:cs typeface="Aptos"/>
            </a:endParaRPr>
          </a:p>
          <a:p>
            <a:pPr algn="left"/>
            <a:r>
              <a:rPr lang="en-US" sz="850" b="0" dirty="0">
                <a:solidFill>
                  <a:srgbClr val="CBD5E1"/>
                </a:solidFill>
                <a:latin typeface="Aptos"/>
                <a:ea typeface="Aptos"/>
                <a:cs typeface="Aptos"/>
              </a:rPr>
              <a:t>rialo.io/for-devs</a:t>
            </a:r>
            <a:endParaRPr lang="en-US" sz="850" dirty="0">
              <a:solidFill>
                <a:srgbClr val="CBD5E1"/>
              </a:solidFill>
              <a:latin typeface="Aptos"/>
              <a:ea typeface="Aptos"/>
              <a:cs typeface="Aptos"/>
            </a:endParaRPr>
          </a:p>
          <a:p>
            <a:pPr algn="left"/>
            <a:r>
              <a:rPr lang="en-US" sz="850" b="0" dirty="0">
                <a:solidFill>
                  <a:srgbClr val="CBD5E1"/>
                </a:solidFill>
                <a:latin typeface="Aptos"/>
                <a:ea typeface="Aptos"/>
                <a:cs typeface="Aptos"/>
              </a:rPr>
              <a:t>Project README and ProofPay DApp Explainer</a:t>
            </a:r>
            <a:endParaRPr lang="en-US" sz="850" dirty="0">
              <a:solidFill>
                <a:srgbClr val="CBD5E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2" name="footer"/>
          <p:cNvSpPr txBox="1"/>
          <p:nvPr/>
        </p:nvSpPr>
        <p:spPr>
          <a:xfrm>
            <a:off x="749808" y="6053328"/>
            <a:ext cx="960120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91440" tIns="45720" rIns="91440" bIns="45720"/>
          <a:lstStyle/>
          <a:p>
            <a:pPr algn="left"/>
            <a:r>
              <a:rPr lang="en-US" sz="900" b="0" dirty="0">
                <a:solidFill>
                  <a:srgbClr val="94A3B8"/>
                </a:solidFill>
                <a:latin typeface="Aptos"/>
                <a:ea typeface="Aptos"/>
                <a:cs typeface="Aptos"/>
              </a:rPr>
              <a:t>ProofPay on Rialo  |  14/14</a:t>
            </a:r>
            <a:endParaRPr lang="en-US" sz="900" dirty="0">
              <a:solidFill>
                <a:srgbClr val="94A3B8"/>
              </a:solidFill>
              <a:latin typeface="Aptos"/>
              <a:ea typeface="Aptos"/>
              <a:cs typeface="Apto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ofPay Report Theme">
  <a:themeElements>
    <a:clrScheme name="ProofPay">
      <a:dk1>
        <a:sysClr val="windowText" lastClr="000000"/>
      </a:dk1>
      <a:lt1>
        <a:sysClr val="window" lastClr="FFFFFF"/>
      </a:lt1>
      <a:dk2>
        <a:srgbClr val="101828"/>
      </a:dk2>
      <a:lt2>
        <a:srgbClr val="F8FAFC"/>
      </a:lt2>
      <a:accent1>
        <a:srgbClr val="0F766E"/>
      </a:accent1>
      <a:accent2>
        <a:srgbClr val="2563EB"/>
      </a:accent2>
      <a:accent3>
        <a:srgbClr val="16A34A"/>
      </a:accent3>
      <a:accent4>
        <a:srgbClr val="EA580C"/>
      </a:accent4>
      <a:accent5>
        <a:srgbClr val="7C3AED"/>
      </a:accent5>
      <a:accent6>
        <a:srgbClr val="D97706"/>
      </a:accent6>
      <a:hlink>
        <a:srgbClr val="2563EB"/>
      </a:hlink>
      <a:folHlink>
        <a:srgbClr val="7C3AED"/>
      </a:folHlink>
    </a:clrScheme>
    <a:fontScheme name="Aptos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ProofPay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ProofPay Pitch Builder</Application>
  <PresentationFormat>Widescreen</PresentationFormat>
  <Slides>14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14</vt:i4>
      </vt:variant>
    </vt:vector>
  </HeadingPairs>
  <TitlesOfParts>
    <vt:vector size="14" baseType="lpstr">
      <vt:lpstr>ProofPay on Rialo</vt:lpstr>
      <vt:lpstr>Executive Summary</vt:lpstr>
      <vt:lpstr>The Problem</vt:lpstr>
      <vt:lpstr>Product Concept</vt:lpstr>
      <vt:lpstr>How ProofPay Uses Rialo</vt:lpstr>
      <vt:lpstr>What Level of Rialo Is Used Today</vt:lpstr>
      <vt:lpstr>Rialo Technology Advantage</vt:lpstr>
      <vt:lpstr>Current Architecture and Upgrade Path</vt:lpstr>
      <vt:lpstr>What the Prototype Proves</vt:lpstr>
      <vt:lpstr>Project Strengths</vt:lpstr>
      <vt:lpstr>Private Repo: Access and Verifier</vt:lpstr>
      <vt:lpstr>Impact and Use Cases</vt:lpstr>
      <vt:lpstr>Production Roadmap</vt:lpstr>
      <vt:lpstr>Conclusion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ProofPay on Rialo - English report</dc:title>
  <dc:subject>ProofPay Rialo project report</dc:subject>
  <dc:creator>OpenAI Codex</dc:creator>
  <cp:keywords>ProofPay,Rialo,escrow,Web3,presentation</cp:keywords>
  <dc:description>Project report deck for ProofPay on Rialo.</dc:description>
  <cp:lastModifiedBy>OpenAI Codex</cp:lastModifiedBy>
  <dcterms:created xsi:type="dcterms:W3CDTF">2026-06-09T10:51:59Z</dcterms:created>
  <dcterms:modified xsi:type="dcterms:W3CDTF">2026-06-09T10:51:59Z</dcterms:modified>
</cp:coreProperties>
</file>